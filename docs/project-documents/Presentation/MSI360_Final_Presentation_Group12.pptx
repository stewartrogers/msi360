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7930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AX+Ps/DWgUixuVfNoYRmpSINS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Open with who we are, what MSI360 is, and that the presentation includes a mandatory live demo, not a video or screenshot walkthrough. Suggested time: 45 seconds.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Introduce Group 12 and the sponsor. Keep this non-technical. Make clear that the audience should not need project background to follow the rest of the presentation. Suggested time: 1 minute.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State the problem in simple non-technical terms. Connect the issue to workers, supervisors, and employers. Mention that the original process can be difficult for workers to complete independently. Suggested time: 1.5 minutes.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Distinguish the client need from the team implementation: client asked for an accessible MSI assessment prototype; the team implemented the web flow, scoring/report structure, and technical approach. Suggested time: 1.25 minutes.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Make the starting point clear: this was built from scratch, using client requirements and reference materials. Also explain scope limits to keep expectations controlled. Suggested time: 1 minute.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This is the inherited versus built distinction. Say that what existed before was the problem context, paper-based process, and ErgoCheck-style reference idea; what the team added is the working MSI360 prototype and its core modules. Suggested time: 1 minute.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Keep this high level. The point is not to prove every implementation detail, but to show that the stack was practical for a short MVP, responsive UI, rule-based scoring, translation, and report generation. Suggested time: 1 minute.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Explain the system flow from worker input to report output. Emphasize that the scoring engine is rule-based and explainable, while AI and translation are support layers. Suggested time: 1.25 minutes.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Jonah.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93c55dc1b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g3e93c55dc1b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Jonah.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Jonah.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Kyle.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26d0e83e9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g3e26d0e83e9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Kyle.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960d9a570_9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g3e960d9a570_9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Kyle.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960d9a570_9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g3e960d9a570_9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Kyle.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Nick. Blank draft slide reserved for this section.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Abdullah. </a:t>
            </a:r>
            <a:r>
              <a:rPr lang="en-US"/>
              <a:t>Start by briefly showing the original ErgoCheck report, then switch to the redesigned MSI360 report. Focus on readability, report structure, visual hierarchy, the dynamic body diagram, and action-oriented category pages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. Replace bracketed actual status and total hours before the final presentation. Discuss planned versus actual work, sprint outcomes, risks, blockers, and how the team handled them. Suggested time: 1.5 minutes.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Speaker:. Explain why this was not just a form. The challenge was balancing accessibility, safety, scoring transparency, and a professional output. Suggested time: 1 minute.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Keep this concrete. Explain how work was divided and coordinated. Suggested time: 1 minute.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Revisit the original problem, summarize the outcome, acknowledge the sponsor and supervisor, and transition into Q&amp;A. Suggested time: 1 minute.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Speaker: Cole. This slide is mainly for team preparation. It can be included at the end or hidden before presenting, depending on supervisor expectations. Suggested time: use only if needed before Q&amp;A.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lay"/>
              <a:buNone/>
              <a:defRPr b="0" i="0" sz="4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9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77240" y="935990"/>
            <a:ext cx="5943601" cy="825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5400"/>
              <a:buFont typeface="Play"/>
              <a:buNone/>
            </a:pPr>
            <a:r>
              <a:rPr b="1" i="0" lang="en-US" sz="54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MSI 360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13816" y="1901951"/>
            <a:ext cx="1143001" cy="82297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777239" y="2216149"/>
            <a:ext cx="6035042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Final Client Presentation</a:t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777239" y="2868675"/>
            <a:ext cx="649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>
                <a:solidFill>
                  <a:srgbClr val="34454D"/>
                </a:solidFill>
              </a:rPr>
              <a:t> musculoskeletal injury</a:t>
            </a:r>
            <a:r>
              <a:rPr b="0" i="0" lang="en-US" sz="18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 risk assessment prototype for WorkSafeBC.</a:t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5179059"/>
            <a:ext cx="7680960" cy="203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Group 12: Cole Campbell, Jonah Botelho, Nicholas Ng, Abdullah Asmy, Kyle Cheon</a:t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5558536"/>
            <a:ext cx="5669280" cy="203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Client: Stewart Rogers, WorkSafeBC | Supervisor: Hoda Rashedi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Team, client, and context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40080" y="1325880"/>
            <a:ext cx="3291841" cy="1143001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325880"/>
            <a:ext cx="73153" cy="114300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868679" y="1490472"/>
            <a:ext cx="2926082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868679" y="1856232"/>
            <a:ext cx="2926082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WorkSafeBC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Stewart Rogers, Geoff Wright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251959" y="1325880"/>
            <a:ext cx="3383281" cy="1143001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251959" y="1325880"/>
            <a:ext cx="73153" cy="1143001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4480559" y="1490472"/>
            <a:ext cx="30175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C</a:t>
            </a:r>
            <a:r>
              <a:rPr b="1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ontext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4480559" y="1856232"/>
            <a:ext cx="301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88"/>
              <a:buFont typeface="Arial"/>
              <a:buNone/>
            </a:pPr>
            <a:r>
              <a:rPr b="0" i="0" lang="en-US" sz="12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WorkSafeBC supports workplace injury prevention, compensation, and rehabilitation across B</a:t>
            </a:r>
            <a:r>
              <a:rPr lang="en-US" sz="1200">
                <a:solidFill>
                  <a:srgbClr val="34454D"/>
                </a:solidFill>
              </a:rPr>
              <a:t>.C</a:t>
            </a:r>
            <a:r>
              <a:rPr b="0" i="0" lang="en-US" sz="12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</p:txBody>
      </p:sp>
      <p:sp>
        <p:nvSpPr>
          <p:cNvPr id="39" name="Google Shape;39;p2"/>
          <p:cNvSpPr/>
          <p:nvPr/>
        </p:nvSpPr>
        <p:spPr>
          <a:xfrm>
            <a:off x="7955280" y="1325880"/>
            <a:ext cx="3383281" cy="1143001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55280" y="1325880"/>
            <a:ext cx="73153" cy="1143001"/>
          </a:xfrm>
          <a:prstGeom prst="rect">
            <a:avLst/>
          </a:prstGeom>
          <a:solidFill>
            <a:srgbClr val="598A38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8183880" y="1490472"/>
            <a:ext cx="30175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S</a:t>
            </a:r>
            <a:r>
              <a:rPr b="1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takeholders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8183880" y="1856232"/>
            <a:ext cx="301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79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Workers, supervisors, employers</a:t>
            </a:r>
            <a:r>
              <a:rPr lang="en-US" sz="1300">
                <a:solidFill>
                  <a:srgbClr val="34454D"/>
                </a:solidFill>
              </a:rPr>
              <a:t>, etc.</a:t>
            </a:r>
            <a:endParaRPr sz="1300"/>
          </a:p>
        </p:txBody>
      </p:sp>
      <p:sp>
        <p:nvSpPr>
          <p:cNvPr id="43" name="Google Shape;43;p2"/>
          <p:cNvSpPr txBox="1"/>
          <p:nvPr/>
        </p:nvSpPr>
        <p:spPr>
          <a:xfrm>
            <a:off x="640080" y="2881376"/>
            <a:ext cx="3108961" cy="254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40080" y="3273552"/>
            <a:ext cx="10927081" cy="384049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0080" y="3273552"/>
            <a:ext cx="64009" cy="384049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841247" y="3413252"/>
            <a:ext cx="1143001" cy="177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2148840" y="3383279"/>
            <a:ext cx="9189720" cy="201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Team lead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0080" y="3749040"/>
            <a:ext cx="10927081" cy="384049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3749040"/>
            <a:ext cx="64009" cy="384049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841247" y="3888740"/>
            <a:ext cx="1143001" cy="177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Jonah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2148840" y="3858767"/>
            <a:ext cx="9189720" cy="201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Back-end Engineer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40080" y="4224528"/>
            <a:ext cx="10927081" cy="384049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34454D"/>
              </a:solidFill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" y="4224528"/>
            <a:ext cx="64009" cy="384049"/>
          </a:xfrm>
          <a:prstGeom prst="rect">
            <a:avLst/>
          </a:prstGeom>
          <a:solidFill>
            <a:srgbClr val="B6505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841247" y="4364228"/>
            <a:ext cx="1143001" cy="177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Kyle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2148840" y="4334255"/>
            <a:ext cx="9189720" cy="201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Full-stack Engineer</a:t>
            </a:r>
            <a:endParaRPr sz="1200">
              <a:solidFill>
                <a:srgbClr val="34454D"/>
              </a:solidFill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0080" y="4700015"/>
            <a:ext cx="10927081" cy="384049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0080" y="4700015"/>
            <a:ext cx="64009" cy="384049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841247" y="4839716"/>
            <a:ext cx="1143001" cy="177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Nick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2148840" y="4809744"/>
            <a:ext cx="9189720" cy="201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AI Logic/Translation support</a:t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40080" y="5175503"/>
            <a:ext cx="10927081" cy="384049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0080" y="5175503"/>
            <a:ext cx="64009" cy="384049"/>
          </a:xfrm>
          <a:prstGeom prst="rect">
            <a:avLst/>
          </a:prstGeom>
          <a:solidFill>
            <a:srgbClr val="49A39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41247" y="5315204"/>
            <a:ext cx="1143001" cy="177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Abdullah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2148840" y="5285232"/>
            <a:ext cx="9189720" cy="201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UI/UX &amp; Report Design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The problem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685799" y="1170432"/>
            <a:ext cx="10698482" cy="594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954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Workers can often tell when a task feels unsafe, but they may not have a simple way to assess, document, and communicate MSI risk.</a:t>
            </a:r>
            <a:endParaRPr sz="1800"/>
          </a:p>
        </p:txBody>
      </p:sp>
      <p:sp>
        <p:nvSpPr>
          <p:cNvPr id="74" name="Google Shape;74;p3"/>
          <p:cNvSpPr/>
          <p:nvPr/>
        </p:nvSpPr>
        <p:spPr>
          <a:xfrm>
            <a:off x="685800" y="2148839"/>
            <a:ext cx="3154680" cy="2148841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85800" y="2148839"/>
            <a:ext cx="73153" cy="2148841"/>
          </a:xfrm>
          <a:prstGeom prst="rect">
            <a:avLst/>
          </a:prstGeom>
          <a:solidFill>
            <a:srgbClr val="B6505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914400" y="2313432"/>
            <a:ext cx="27889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800"/>
          </a:p>
        </p:txBody>
      </p:sp>
      <p:sp>
        <p:nvSpPr>
          <p:cNvPr id="77" name="Google Shape;77;p3"/>
          <p:cNvSpPr txBox="1"/>
          <p:nvPr/>
        </p:nvSpPr>
        <p:spPr>
          <a:xfrm>
            <a:off x="914400" y="2679192"/>
            <a:ext cx="2788921" cy="146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MSIs (</a:t>
            </a:r>
            <a:r>
              <a:rPr lang="en-US">
                <a:solidFill>
                  <a:srgbClr val="34454D"/>
                </a:solidFill>
              </a:rPr>
              <a:t>Musculoskeletal injuries) </a:t>
            </a: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are the most common workplace injury in B.C.</a:t>
            </a:r>
            <a:r>
              <a:rPr lang="en-US">
                <a:solidFill>
                  <a:srgbClr val="34454D"/>
                </a:solidFill>
              </a:rPr>
              <a:t>, 1/3 of all injuries.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526279" y="2148839"/>
            <a:ext cx="3154681" cy="2148841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26279" y="2148839"/>
            <a:ext cx="73153" cy="2148841"/>
          </a:xfrm>
          <a:prstGeom prst="rect">
            <a:avLst/>
          </a:prstGeom>
          <a:solidFill>
            <a:srgbClr val="D98C2B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4754879" y="2313432"/>
            <a:ext cx="27889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Current gap</a:t>
            </a:r>
            <a:endParaRPr sz="1800"/>
          </a:p>
        </p:txBody>
      </p:sp>
      <p:sp>
        <p:nvSpPr>
          <p:cNvPr id="81" name="Google Shape;81;p3"/>
          <p:cNvSpPr txBox="1"/>
          <p:nvPr/>
        </p:nvSpPr>
        <p:spPr>
          <a:xfrm>
            <a:off x="4754879" y="2679192"/>
            <a:ext cx="2788921" cy="146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Current paper based assessments take too long</a:t>
            </a: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>
                <a:solidFill>
                  <a:srgbClr val="34454D"/>
                </a:solidFill>
              </a:rPr>
              <a:t>only support English, </a:t>
            </a: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>
                <a:solidFill>
                  <a:srgbClr val="34454D"/>
                </a:solidFill>
              </a:rPr>
              <a:t>depend</a:t>
            </a: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 on MSI expertise that </a:t>
            </a:r>
            <a:r>
              <a:rPr lang="en-US">
                <a:solidFill>
                  <a:srgbClr val="34454D"/>
                </a:solidFill>
              </a:rPr>
              <a:t>few people have</a:t>
            </a: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366759" y="2148839"/>
            <a:ext cx="3154681" cy="2148841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366759" y="2148839"/>
            <a:ext cx="73153" cy="2148841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8595359" y="2313432"/>
            <a:ext cx="27889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Project need</a:t>
            </a:r>
            <a:endParaRPr sz="1800"/>
          </a:p>
        </p:txBody>
      </p:sp>
      <p:sp>
        <p:nvSpPr>
          <p:cNvPr id="85" name="Google Shape;85;p3"/>
          <p:cNvSpPr txBox="1"/>
          <p:nvPr/>
        </p:nvSpPr>
        <p:spPr>
          <a:xfrm>
            <a:off x="8595359" y="2679192"/>
            <a:ext cx="2788921" cy="146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A fast, worker-friendly </a:t>
            </a:r>
            <a:r>
              <a:rPr lang="en-US">
                <a:solidFill>
                  <a:srgbClr val="34454D"/>
                </a:solidFill>
              </a:rPr>
              <a:t>questionnaire available in other languages that creates a </a:t>
            </a:r>
            <a:r>
              <a:rPr b="0" i="0" lang="en-US" sz="14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clear risk report</a:t>
            </a:r>
            <a:r>
              <a:rPr lang="en-US">
                <a:solidFill>
                  <a:srgbClr val="34454D"/>
                </a:solidFill>
              </a:rPr>
              <a:t>. 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640024" y="4913070"/>
            <a:ext cx="1069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954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ErgoCheck: old prototype that takes &gt;</a:t>
            </a:r>
            <a:r>
              <a:rPr b="1" lang="en-US" sz="1800">
                <a:solidFill>
                  <a:srgbClr val="1F2A30"/>
                </a:solidFill>
              </a:rPr>
              <a:t>20 min</a:t>
            </a:r>
            <a:r>
              <a:rPr b="1" lang="en-US" sz="1800">
                <a:solidFill>
                  <a:srgbClr val="1F2A30"/>
                </a:solidFill>
              </a:rPr>
              <a:t>, asks unneeded questions, produces lengthy report.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Project purpose and value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85800" y="1234439"/>
            <a:ext cx="2971800" cy="4434842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960119" y="1530095"/>
            <a:ext cx="2468881" cy="304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1005839" y="2121407"/>
            <a:ext cx="2331722" cy="1417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ct val="100000"/>
              <a:buFont typeface="Arial"/>
              <a:buNone/>
            </a:pPr>
            <a:r>
              <a:rPr b="1" i="0" lang="en-US" sz="1619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Guide a worker through a task-specific MSI risk assessment and produce a professional risk report</a:t>
            </a:r>
            <a:r>
              <a:rPr b="1" lang="en-US" sz="1619">
                <a:solidFill>
                  <a:srgbClr val="1F2A30"/>
                </a:solidFill>
              </a:rPr>
              <a:t> using AI.</a:t>
            </a:r>
            <a:endParaRPr/>
          </a:p>
        </p:txBody>
      </p:sp>
      <p:sp>
        <p:nvSpPr>
          <p:cNvPr id="99" name="Google Shape;99;p4"/>
          <p:cNvSpPr txBox="1"/>
          <p:nvPr/>
        </p:nvSpPr>
        <p:spPr>
          <a:xfrm>
            <a:off x="960119" y="4211320"/>
            <a:ext cx="2514601" cy="355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Not a medical, legal, or regulatory decision tool.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160520" y="1353311"/>
            <a:ext cx="493777" cy="493777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4160520" y="1504436"/>
            <a:ext cx="49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910328" y="1313180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7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Save the user time</a:t>
            </a:r>
            <a:endParaRPr sz="1800"/>
          </a:p>
        </p:txBody>
      </p:sp>
      <p:sp>
        <p:nvSpPr>
          <p:cNvPr id="103" name="Google Shape;103;p4"/>
          <p:cNvSpPr txBox="1"/>
          <p:nvPr/>
        </p:nvSpPr>
        <p:spPr>
          <a:xfrm>
            <a:off x="4910325" y="1691650"/>
            <a:ext cx="63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MSI 360 will save the user ~50% of time per survey compared to older versions.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160520" y="2743442"/>
            <a:ext cx="493800" cy="4938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4160520" y="2882652"/>
            <a:ext cx="49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4910328" y="2703310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7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-US" sz="1800">
                <a:solidFill>
                  <a:srgbClr val="1F2A30"/>
                </a:solidFill>
              </a:rPr>
              <a:t>upport many languages</a:t>
            </a:r>
            <a:endParaRPr sz="1800"/>
          </a:p>
        </p:txBody>
      </p:sp>
      <p:sp>
        <p:nvSpPr>
          <p:cNvPr id="107" name="Google Shape;107;p4"/>
          <p:cNvSpPr txBox="1"/>
          <p:nvPr/>
        </p:nvSpPr>
        <p:spPr>
          <a:xfrm>
            <a:off x="4910328" y="3081770"/>
            <a:ext cx="626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MSI 360 supports the top 40 spoken languages in B.C., allowing almost everyone in this diverse province access to the app.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160520" y="4350746"/>
            <a:ext cx="493800" cy="4938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4160508" y="4489958"/>
            <a:ext cx="49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4910328" y="4310615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7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Highlighted body diagram</a:t>
            </a:r>
            <a:endParaRPr sz="1800"/>
          </a:p>
        </p:txBody>
      </p:sp>
      <p:sp>
        <p:nvSpPr>
          <p:cNvPr id="111" name="Google Shape;111;p4"/>
          <p:cNvSpPr txBox="1"/>
          <p:nvPr/>
        </p:nvSpPr>
        <p:spPr>
          <a:xfrm>
            <a:off x="4910328" y="4689075"/>
            <a:ext cx="626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61"/>
              <a:buFont typeface="Arial"/>
              <a:buNone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>
                <a:solidFill>
                  <a:srgbClr val="34454D"/>
                </a:solidFill>
              </a:rPr>
              <a:t>final PDF report includes a dynamically highlighted </a:t>
            </a:r>
            <a:r>
              <a:rPr lang="en-US">
                <a:solidFill>
                  <a:srgbClr val="34454D"/>
                </a:solidFill>
              </a:rPr>
              <a:t>body</a:t>
            </a:r>
            <a:r>
              <a:rPr lang="en-US">
                <a:solidFill>
                  <a:srgbClr val="34454D"/>
                </a:solidFill>
              </a:rPr>
              <a:t> diagram, showing where the risks are.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Starting point and project scope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85800" y="1280160"/>
            <a:ext cx="3291841" cy="4434841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85800" y="1280159"/>
            <a:ext cx="73153" cy="4434842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914399" y="1444752"/>
            <a:ext cx="2926082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Built from scratch</a:t>
            </a:r>
            <a:endParaRPr sz="1800"/>
          </a:p>
        </p:txBody>
      </p:sp>
      <p:sp>
        <p:nvSpPr>
          <p:cNvPr id="124" name="Google Shape;124;p5"/>
          <p:cNvSpPr txBox="1"/>
          <p:nvPr/>
        </p:nvSpPr>
        <p:spPr>
          <a:xfrm>
            <a:off x="914399" y="1810511"/>
            <a:ext cx="2926082" cy="3749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500"/>
              <a:buFont typeface="Arial"/>
              <a:buNone/>
            </a:pPr>
            <a:r>
              <a:rPr b="0" i="0" lang="en-US" sz="16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MSI 360 is a new MVP web application. There was no inherited codebase </a:t>
            </a:r>
            <a:r>
              <a:rPr lang="en-US" sz="1600">
                <a:solidFill>
                  <a:srgbClr val="34454D"/>
                </a:solidFill>
              </a:rPr>
              <a:t>from WorkSafeBC.</a:t>
            </a:r>
            <a:endParaRPr sz="1600"/>
          </a:p>
        </p:txBody>
      </p:sp>
      <p:sp>
        <p:nvSpPr>
          <p:cNvPr id="125" name="Google Shape;125;p5"/>
          <p:cNvSpPr/>
          <p:nvPr/>
        </p:nvSpPr>
        <p:spPr>
          <a:xfrm>
            <a:off x="4434840" y="1280160"/>
            <a:ext cx="3291841" cy="4434841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434840" y="1280159"/>
            <a:ext cx="73153" cy="4434842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4663440" y="1444752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Resources provided</a:t>
            </a:r>
            <a:endParaRPr sz="1800"/>
          </a:p>
        </p:txBody>
      </p:sp>
      <p:sp>
        <p:nvSpPr>
          <p:cNvPr id="128" name="Google Shape;128;p5"/>
          <p:cNvSpPr txBox="1"/>
          <p:nvPr/>
        </p:nvSpPr>
        <p:spPr>
          <a:xfrm>
            <a:off x="4663440" y="1810511"/>
            <a:ext cx="2926081" cy="3749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600"/>
              <a:buChar char="●"/>
            </a:pPr>
            <a:r>
              <a:rPr b="0" i="0" lang="en-US" sz="16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Project brief</a:t>
            </a:r>
            <a:endParaRPr sz="1600">
              <a:solidFill>
                <a:srgbClr val="34454D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600"/>
              <a:buChar char="●"/>
            </a:pPr>
            <a:r>
              <a:rPr lang="en-US" sz="1600">
                <a:solidFill>
                  <a:srgbClr val="34454D"/>
                </a:solidFill>
              </a:rPr>
              <a:t>MSI reports</a:t>
            </a:r>
            <a:endParaRPr sz="1600">
              <a:solidFill>
                <a:srgbClr val="34454D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600"/>
              <a:buChar char="●"/>
            </a:pPr>
            <a:r>
              <a:rPr b="0" i="0" lang="en-US" sz="16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WorkSafeBC </a:t>
            </a:r>
            <a:r>
              <a:rPr lang="en-US" sz="1600">
                <a:solidFill>
                  <a:srgbClr val="34454D"/>
                </a:solidFill>
              </a:rPr>
              <a:t>CSS</a:t>
            </a:r>
            <a:r>
              <a:rPr b="0" i="0" lang="en-US" sz="16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rgbClr val="34454D"/>
                </a:solidFill>
              </a:rPr>
              <a:t>examples</a:t>
            </a:r>
            <a:endParaRPr sz="1600">
              <a:solidFill>
                <a:srgbClr val="34454D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600"/>
              <a:buChar char="●"/>
            </a:pPr>
            <a:r>
              <a:rPr lang="en-US" sz="1600">
                <a:solidFill>
                  <a:srgbClr val="34454D"/>
                </a:solidFill>
              </a:rPr>
              <a:t>Client feedback</a:t>
            </a:r>
            <a:endParaRPr sz="1600">
              <a:solidFill>
                <a:srgbClr val="34454D"/>
              </a:solidFill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183880" y="1280160"/>
            <a:ext cx="3291841" cy="4434841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183880" y="1280159"/>
            <a:ext cx="73153" cy="443484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8412480" y="1444752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Scope boundaries</a:t>
            </a:r>
            <a:endParaRPr sz="1800"/>
          </a:p>
        </p:txBody>
      </p:sp>
      <p:sp>
        <p:nvSpPr>
          <p:cNvPr id="132" name="Google Shape;132;p5"/>
          <p:cNvSpPr txBox="1"/>
          <p:nvPr/>
        </p:nvSpPr>
        <p:spPr>
          <a:xfrm>
            <a:off x="8412480" y="1810511"/>
            <a:ext cx="2926081" cy="3749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Prototype only. No WorkSafeBC internal systems, production data, or long-term maintenance.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What our team built or improved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85800" y="1234439"/>
            <a:ext cx="3291841" cy="1627634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85800" y="1234439"/>
            <a:ext cx="73153" cy="1627634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914399" y="1399032"/>
            <a:ext cx="2926082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Dynamic questionnaire</a:t>
            </a:r>
            <a:endParaRPr sz="1800"/>
          </a:p>
        </p:txBody>
      </p:sp>
      <p:sp>
        <p:nvSpPr>
          <p:cNvPr id="145" name="Google Shape;145;p6"/>
          <p:cNvSpPr txBox="1"/>
          <p:nvPr/>
        </p:nvSpPr>
        <p:spPr>
          <a:xfrm>
            <a:off x="914399" y="1764792"/>
            <a:ext cx="2926082" cy="941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Users see only relevant questions instead of a long one-size-fits-all form.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434840" y="1234439"/>
            <a:ext cx="3291841" cy="1627634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434840" y="1234439"/>
            <a:ext cx="73153" cy="1627634"/>
          </a:xfrm>
          <a:prstGeom prst="rect">
            <a:avLst/>
          </a:prstGeom>
          <a:solidFill>
            <a:srgbClr val="49A39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4663440" y="1399032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Automatic answering</a:t>
            </a:r>
            <a:endParaRPr sz="1800"/>
          </a:p>
        </p:txBody>
      </p:sp>
      <p:sp>
        <p:nvSpPr>
          <p:cNvPr id="149" name="Google Shape;149;p6"/>
          <p:cNvSpPr txBox="1"/>
          <p:nvPr/>
        </p:nvSpPr>
        <p:spPr>
          <a:xfrm>
            <a:off x="4663440" y="1764792"/>
            <a:ext cx="2926081" cy="941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Questions already answered from the task description will not be asked.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8183880" y="1234439"/>
            <a:ext cx="3291841" cy="1627634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183880" y="1234439"/>
            <a:ext cx="73153" cy="1627634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8412480" y="1399032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Risk scoring</a:t>
            </a:r>
            <a:endParaRPr sz="1800"/>
          </a:p>
        </p:txBody>
      </p:sp>
      <p:sp>
        <p:nvSpPr>
          <p:cNvPr id="153" name="Google Shape;153;p6"/>
          <p:cNvSpPr txBox="1"/>
          <p:nvPr/>
        </p:nvSpPr>
        <p:spPr>
          <a:xfrm>
            <a:off x="8412480" y="1764792"/>
            <a:ext cx="2926081" cy="941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S</a:t>
            </a: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coring for MSI risk using likelihood and severity logic.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685800" y="3611879"/>
            <a:ext cx="3291841" cy="1627633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85800" y="3611879"/>
            <a:ext cx="73153" cy="16276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914399" y="3776471"/>
            <a:ext cx="2926082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Translation support</a:t>
            </a:r>
            <a:endParaRPr sz="1800"/>
          </a:p>
        </p:txBody>
      </p:sp>
      <p:sp>
        <p:nvSpPr>
          <p:cNvPr id="157" name="Google Shape;157;p6"/>
          <p:cNvSpPr txBox="1"/>
          <p:nvPr/>
        </p:nvSpPr>
        <p:spPr>
          <a:xfrm>
            <a:off x="914399" y="4142232"/>
            <a:ext cx="2926082" cy="941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MSI 360 </a:t>
            </a: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supports</a:t>
            </a:r>
            <a:r>
              <a:rPr lang="en-US">
                <a:solidFill>
                  <a:srgbClr val="34454D"/>
                </a:solidFill>
              </a:rPr>
              <a:t> 40 languages.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434840" y="3611879"/>
            <a:ext cx="3291841" cy="1627633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434840" y="3611879"/>
            <a:ext cx="73153" cy="1627633"/>
          </a:xfrm>
          <a:prstGeom prst="rect">
            <a:avLst/>
          </a:prstGeom>
          <a:solidFill>
            <a:srgbClr val="B6505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663440" y="3776471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Report generation</a:t>
            </a:r>
            <a:endParaRPr sz="1800"/>
          </a:p>
        </p:txBody>
      </p:sp>
      <p:sp>
        <p:nvSpPr>
          <p:cNvPr id="161" name="Google Shape;161;p6"/>
          <p:cNvSpPr txBox="1"/>
          <p:nvPr/>
        </p:nvSpPr>
        <p:spPr>
          <a:xfrm>
            <a:off x="4663440" y="4142232"/>
            <a:ext cx="2926081" cy="941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MSI Risk Analysis Report for printing, downloading, and </a:t>
            </a:r>
            <a:r>
              <a:rPr lang="en-US">
                <a:solidFill>
                  <a:srgbClr val="34454D"/>
                </a:solidFill>
              </a:rPr>
              <a:t>sharing</a:t>
            </a: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183880" y="3611879"/>
            <a:ext cx="3291841" cy="1627633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183880" y="3611879"/>
            <a:ext cx="73153" cy="1627633"/>
          </a:xfrm>
          <a:prstGeom prst="rect">
            <a:avLst/>
          </a:prstGeom>
          <a:solidFill>
            <a:srgbClr val="197E6C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8412480" y="3776471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Responsive UI</a:t>
            </a:r>
            <a:endParaRPr sz="1800"/>
          </a:p>
        </p:txBody>
      </p:sp>
      <p:sp>
        <p:nvSpPr>
          <p:cNvPr id="165" name="Google Shape;165;p6"/>
          <p:cNvSpPr txBox="1"/>
          <p:nvPr/>
        </p:nvSpPr>
        <p:spPr>
          <a:xfrm>
            <a:off x="8412480" y="4142232"/>
            <a:ext cx="2926081" cy="941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Designed for </a:t>
            </a:r>
            <a:r>
              <a:rPr lang="en-US">
                <a:solidFill>
                  <a:srgbClr val="34454D"/>
                </a:solidFill>
              </a:rPr>
              <a:t>mobile, supports desktop.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Technical solution at a glance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85800" y="1234450"/>
            <a:ext cx="3200400" cy="15216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85801" y="1234451"/>
            <a:ext cx="73200" cy="15216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914400" y="1399032"/>
            <a:ext cx="2834640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Languages</a:t>
            </a:r>
            <a:r>
              <a:rPr b="1" lang="en-US" sz="1800">
                <a:solidFill>
                  <a:srgbClr val="1F2A30"/>
                </a:solidFill>
              </a:rPr>
              <a:t> used</a:t>
            </a:r>
            <a:endParaRPr sz="1800"/>
          </a:p>
        </p:txBody>
      </p:sp>
      <p:sp>
        <p:nvSpPr>
          <p:cNvPr id="178" name="Google Shape;178;p7"/>
          <p:cNvSpPr txBox="1"/>
          <p:nvPr/>
        </p:nvSpPr>
        <p:spPr>
          <a:xfrm>
            <a:off x="914400" y="1764792"/>
            <a:ext cx="2834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React, TypeScript, HTML, CSS for a responsive </a:t>
            </a:r>
            <a:r>
              <a:rPr lang="en-US">
                <a:solidFill>
                  <a:srgbClr val="34454D"/>
                </a:solidFill>
              </a:rPr>
              <a:t>app.</a:t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480550" y="1234451"/>
            <a:ext cx="3200400" cy="15216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480607" y="1234451"/>
            <a:ext cx="73200" cy="15216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4709159" y="1399032"/>
            <a:ext cx="283464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Report generation</a:t>
            </a:r>
            <a:endParaRPr sz="1800"/>
          </a:p>
        </p:txBody>
      </p:sp>
      <p:sp>
        <p:nvSpPr>
          <p:cNvPr id="182" name="Google Shape;182;p7"/>
          <p:cNvSpPr txBox="1"/>
          <p:nvPr/>
        </p:nvSpPr>
        <p:spPr>
          <a:xfrm>
            <a:off x="4709159" y="1764792"/>
            <a:ext cx="2834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React PDF library, SVG files for dynamic body diagram.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275325" y="1234451"/>
            <a:ext cx="3200400" cy="15216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275275" y="1234451"/>
            <a:ext cx="73200" cy="15216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503919" y="1399032"/>
            <a:ext cx="283464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AI enhancements</a:t>
            </a:r>
            <a:endParaRPr sz="1800"/>
          </a:p>
        </p:txBody>
      </p:sp>
      <p:sp>
        <p:nvSpPr>
          <p:cNvPr id="186" name="Google Shape;186;p7"/>
          <p:cNvSpPr txBox="1"/>
          <p:nvPr/>
        </p:nvSpPr>
        <p:spPr>
          <a:xfrm>
            <a:off x="8503919" y="1764792"/>
            <a:ext cx="2834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Gemini AI for interpreting user input and assigning dynamic questionnaire.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685800" y="3234435"/>
            <a:ext cx="41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Project support tools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685800" y="3543550"/>
            <a:ext cx="5120700" cy="21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Char char="●"/>
            </a:pPr>
            <a:r>
              <a:rPr b="0" i="0" lang="en-US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Trello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34454D"/>
                </a:solidFill>
              </a:rPr>
              <a:t>Figma</a:t>
            </a:r>
            <a:endParaRPr>
              <a:solidFill>
                <a:srgbClr val="34454D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Char char="●"/>
            </a:pPr>
            <a:r>
              <a:rPr lang="en-US">
                <a:solidFill>
                  <a:srgbClr val="34454D"/>
                </a:solidFill>
              </a:rPr>
              <a:t>Notion</a:t>
            </a:r>
            <a:endParaRPr>
              <a:solidFill>
                <a:srgbClr val="34454D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Char char="●"/>
            </a:pPr>
            <a:r>
              <a:rPr lang="en-US">
                <a:solidFill>
                  <a:srgbClr val="34454D"/>
                </a:solidFill>
              </a:rPr>
              <a:t>OpenAI Codex</a:t>
            </a:r>
            <a:endParaRPr>
              <a:solidFill>
                <a:srgbClr val="34454D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Char char="●"/>
            </a:pPr>
            <a:r>
              <a:rPr lang="en-US">
                <a:solidFill>
                  <a:srgbClr val="34454D"/>
                </a:solidFill>
              </a:rPr>
              <a:t>Discord</a:t>
            </a:r>
            <a:endParaRPr>
              <a:solidFill>
                <a:srgbClr val="34454D"/>
              </a:solidFill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537959" y="3246120"/>
            <a:ext cx="4892041" cy="1737361"/>
          </a:xfrm>
          <a:prstGeom prst="roundRect">
            <a:avLst>
              <a:gd fmla="val 7368" name="adj"/>
            </a:avLst>
          </a:prstGeom>
          <a:solidFill>
            <a:srgbClr val="EAF2F0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812280" y="3499611"/>
            <a:ext cx="4297681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Why this approach?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6812280" y="3977640"/>
            <a:ext cx="4251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095"/>
              <a:buFont typeface="Arial"/>
              <a:buNone/>
            </a:pPr>
            <a:r>
              <a:rPr b="0" i="0" lang="en-US" sz="13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Fast enough for a 4-week MVP, </a:t>
            </a:r>
            <a:r>
              <a:rPr lang="en-US" sz="1300">
                <a:solidFill>
                  <a:srgbClr val="1F2A30"/>
                </a:solidFill>
              </a:rPr>
              <a:t>easy for the team to learn</a:t>
            </a:r>
            <a:r>
              <a:rPr b="0" i="0" lang="en-US" sz="13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300">
                <a:solidFill>
                  <a:srgbClr val="1F2A30"/>
                </a:solidFill>
              </a:rPr>
              <a:t>simple while still fitting </a:t>
            </a:r>
            <a:r>
              <a:rPr lang="en-US" sz="1300">
                <a:solidFill>
                  <a:srgbClr val="1F2A30"/>
                </a:solidFill>
              </a:rPr>
              <a:t>our</a:t>
            </a:r>
            <a:r>
              <a:rPr lang="en-US" sz="1300">
                <a:solidFill>
                  <a:srgbClr val="1F2A30"/>
                </a:solidFill>
              </a:rPr>
              <a:t> project </a:t>
            </a:r>
            <a:r>
              <a:rPr lang="en-US" sz="1300">
                <a:solidFill>
                  <a:srgbClr val="1F2A30"/>
                </a:solidFill>
              </a:rPr>
              <a:t>needs</a:t>
            </a:r>
            <a:r>
              <a:rPr lang="en-US" sz="1300">
                <a:solidFill>
                  <a:srgbClr val="1F2A30"/>
                </a:solidFill>
              </a:rPr>
              <a:t>.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/>
          </a:p>
        </p:txBody>
      </p:sp>
      <p:cxnSp>
        <p:nvCxnSpPr>
          <p:cNvPr id="201" name="Google Shape;201;p8"/>
          <p:cNvCxnSpPr/>
          <p:nvPr/>
        </p:nvCxnSpPr>
        <p:spPr>
          <a:xfrm>
            <a:off x="2045061" y="2323008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8"/>
          <p:cNvCxnSpPr/>
          <p:nvPr/>
        </p:nvCxnSpPr>
        <p:spPr>
          <a:xfrm>
            <a:off x="4468220" y="2341545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8"/>
          <p:cNvCxnSpPr/>
          <p:nvPr/>
        </p:nvCxnSpPr>
        <p:spPr>
          <a:xfrm>
            <a:off x="6886817" y="2341545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8"/>
          <p:cNvCxnSpPr/>
          <p:nvPr/>
        </p:nvCxnSpPr>
        <p:spPr>
          <a:xfrm>
            <a:off x="9309976" y="2341545"/>
            <a:ext cx="777300" cy="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8"/>
          <p:cNvSpPr/>
          <p:nvPr/>
        </p:nvSpPr>
        <p:spPr>
          <a:xfrm>
            <a:off x="357988" y="1838625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197E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467715" y="1986707"/>
            <a:ext cx="155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1F2A30"/>
                </a:solidFill>
              </a:rPr>
              <a:t>User</a:t>
            </a:r>
            <a:endParaRPr sz="1500"/>
          </a:p>
        </p:txBody>
      </p:sp>
      <p:sp>
        <p:nvSpPr>
          <p:cNvPr id="207" name="Google Shape;207;p8"/>
          <p:cNvSpPr txBox="1"/>
          <p:nvPr/>
        </p:nvSpPr>
        <p:spPr>
          <a:xfrm>
            <a:off x="495148" y="2341545"/>
            <a:ext cx="1508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7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Opens MSI 360</a:t>
            </a:r>
            <a:endParaRPr sz="1300"/>
          </a:p>
        </p:txBody>
      </p:sp>
      <p:sp>
        <p:nvSpPr>
          <p:cNvPr id="208" name="Google Shape;208;p8"/>
          <p:cNvSpPr/>
          <p:nvPr/>
        </p:nvSpPr>
        <p:spPr>
          <a:xfrm>
            <a:off x="2781148" y="1838625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2C5F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2890876" y="1986707"/>
            <a:ext cx="155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1F2A30"/>
                </a:solidFill>
              </a:rPr>
              <a:t>Describe task</a:t>
            </a:r>
            <a:endParaRPr sz="1500"/>
          </a:p>
        </p:txBody>
      </p:sp>
      <p:sp>
        <p:nvSpPr>
          <p:cNvPr id="210" name="Google Shape;210;p8"/>
          <p:cNvSpPr txBox="1"/>
          <p:nvPr/>
        </p:nvSpPr>
        <p:spPr>
          <a:xfrm>
            <a:off x="2918307" y="2341545"/>
            <a:ext cx="150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User inputs in chosen language</a:t>
            </a:r>
            <a:endParaRPr sz="1300"/>
          </a:p>
        </p:txBody>
      </p:sp>
      <p:sp>
        <p:nvSpPr>
          <p:cNvPr id="211" name="Google Shape;211;p8"/>
          <p:cNvSpPr/>
          <p:nvPr/>
        </p:nvSpPr>
        <p:spPr>
          <a:xfrm>
            <a:off x="5204308" y="1838625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D98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5314035" y="1986707"/>
            <a:ext cx="155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1F2A30"/>
                </a:solidFill>
              </a:rPr>
              <a:t>Question routing</a:t>
            </a:r>
            <a:endParaRPr sz="1500"/>
          </a:p>
        </p:txBody>
      </p:sp>
      <p:sp>
        <p:nvSpPr>
          <p:cNvPr id="213" name="Google Shape;213;p8"/>
          <p:cNvSpPr txBox="1"/>
          <p:nvPr/>
        </p:nvSpPr>
        <p:spPr>
          <a:xfrm>
            <a:off x="5341466" y="2341545"/>
            <a:ext cx="150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Shows relevant questions only</a:t>
            </a:r>
            <a:endParaRPr sz="1300"/>
          </a:p>
        </p:txBody>
      </p:sp>
      <p:sp>
        <p:nvSpPr>
          <p:cNvPr id="214" name="Google Shape;214;p8"/>
          <p:cNvSpPr/>
          <p:nvPr/>
        </p:nvSpPr>
        <p:spPr>
          <a:xfrm>
            <a:off x="7627468" y="1838625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B65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7737195" y="1986707"/>
            <a:ext cx="155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sz="1500"/>
          </a:p>
        </p:txBody>
      </p:sp>
      <p:sp>
        <p:nvSpPr>
          <p:cNvPr id="216" name="Google Shape;216;p8"/>
          <p:cNvSpPr txBox="1"/>
          <p:nvPr/>
        </p:nvSpPr>
        <p:spPr>
          <a:xfrm>
            <a:off x="7764628" y="2341545"/>
            <a:ext cx="150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Takes average risk score</a:t>
            </a:r>
            <a:endParaRPr sz="1300"/>
          </a:p>
        </p:txBody>
      </p:sp>
      <p:sp>
        <p:nvSpPr>
          <p:cNvPr id="217" name="Google Shape;217;p8"/>
          <p:cNvSpPr/>
          <p:nvPr/>
        </p:nvSpPr>
        <p:spPr>
          <a:xfrm>
            <a:off x="10050628" y="1838625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197E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10160356" y="1986707"/>
            <a:ext cx="155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1" i="0" lang="en-US" sz="15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 output</a:t>
            </a:r>
            <a:endParaRPr sz="1500"/>
          </a:p>
        </p:txBody>
      </p:sp>
      <p:sp>
        <p:nvSpPr>
          <p:cNvPr id="219" name="Google Shape;219;p8"/>
          <p:cNvSpPr txBox="1"/>
          <p:nvPr/>
        </p:nvSpPr>
        <p:spPr>
          <a:xfrm>
            <a:off x="10187788" y="2341545"/>
            <a:ext cx="150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PDF report that user can print/share</a:t>
            </a:r>
            <a:endParaRPr sz="1300"/>
          </a:p>
        </p:txBody>
      </p:sp>
      <p:sp>
        <p:nvSpPr>
          <p:cNvPr id="220" name="Google Shape;220;p8"/>
          <p:cNvSpPr/>
          <p:nvPr/>
        </p:nvSpPr>
        <p:spPr>
          <a:xfrm>
            <a:off x="2918307" y="3598848"/>
            <a:ext cx="5760600" cy="1005900"/>
          </a:xfrm>
          <a:prstGeom prst="roundRect">
            <a:avLst>
              <a:gd fmla="val 10909" name="adj"/>
            </a:avLst>
          </a:prstGeom>
          <a:solidFill>
            <a:srgbClr val="EEF6FF"/>
          </a:solidFill>
          <a:ln cap="flat" cmpd="sng" w="12700">
            <a:solidFill>
              <a:srgbClr val="C6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3238346" y="3728642"/>
            <a:ext cx="507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F85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2C5F85"/>
                </a:solidFill>
              </a:rPr>
              <a:t>AI enhancements</a:t>
            </a:r>
            <a:endParaRPr sz="1500"/>
          </a:p>
        </p:txBody>
      </p:sp>
      <p:sp>
        <p:nvSpPr>
          <p:cNvPr id="222" name="Google Shape;222;p8"/>
          <p:cNvSpPr txBox="1"/>
          <p:nvPr/>
        </p:nvSpPr>
        <p:spPr>
          <a:xfrm>
            <a:off x="3238346" y="4131740"/>
            <a:ext cx="507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Gemini AI interpretation and question assignments</a:t>
            </a:r>
            <a:endParaRPr/>
          </a:p>
        </p:txBody>
      </p:sp>
      <p:cxnSp>
        <p:nvCxnSpPr>
          <p:cNvPr id="223" name="Google Shape;223;p8"/>
          <p:cNvCxnSpPr/>
          <p:nvPr/>
        </p:nvCxnSpPr>
        <p:spPr>
          <a:xfrm>
            <a:off x="4244187" y="2917617"/>
            <a:ext cx="0" cy="658500"/>
          </a:xfrm>
          <a:prstGeom prst="straightConnector1">
            <a:avLst/>
          </a:prstGeom>
          <a:noFill/>
          <a:ln cap="flat" cmpd="sng" w="17775">
            <a:solidFill>
              <a:srgbClr val="A8C8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8"/>
          <p:cNvCxnSpPr/>
          <p:nvPr/>
        </p:nvCxnSpPr>
        <p:spPr>
          <a:xfrm>
            <a:off x="6072987" y="2917617"/>
            <a:ext cx="0" cy="658500"/>
          </a:xfrm>
          <a:prstGeom prst="straightConnector1">
            <a:avLst/>
          </a:prstGeom>
          <a:noFill/>
          <a:ln cap="flat" cmpd="sng" w="17775">
            <a:solidFill>
              <a:srgbClr val="A8C8D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JONAH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Question routing system - tags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85800" y="1280160"/>
            <a:ext cx="3291900" cy="44349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85800" y="1280159"/>
            <a:ext cx="73200" cy="44349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914399" y="1444752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Tags define questions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914400" y="1810500"/>
            <a:ext cx="30105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4454D"/>
                </a:solidFill>
              </a:rPr>
              <a:t>Pre-defined </a:t>
            </a:r>
            <a:r>
              <a:rPr lang="en-US" sz="1500">
                <a:solidFill>
                  <a:srgbClr val="34454D"/>
                </a:solidFill>
              </a:rPr>
              <a:t>metadata</a:t>
            </a:r>
            <a:r>
              <a:rPr lang="en-US" sz="1500">
                <a:solidFill>
                  <a:srgbClr val="34454D"/>
                </a:solidFill>
              </a:rPr>
              <a:t> for defining questions, so different system components can understand them.</a:t>
            </a:r>
            <a:endParaRPr sz="1500">
              <a:solidFill>
                <a:srgbClr val="34454D"/>
              </a:solidFill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434840" y="1280160"/>
            <a:ext cx="3291900" cy="44349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434840" y="1280159"/>
            <a:ext cx="73200" cy="44349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4663440" y="1444752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Questions have tags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4663440" y="1810511"/>
            <a:ext cx="29262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4454D"/>
                </a:solidFill>
              </a:rPr>
              <a:t>Each question was assigned several relevant tags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183880" y="1280160"/>
            <a:ext cx="3291900" cy="44349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183880" y="1280159"/>
            <a:ext cx="73200" cy="44349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8412475" y="1444749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Tags control visibility</a:t>
            </a:r>
            <a:endParaRPr b="1">
              <a:solidFill>
                <a:srgbClr val="1F2A30"/>
              </a:solidFill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8412475" y="1882600"/>
            <a:ext cx="2926200" cy="3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The program state keeps a list of active tags, and any questions matching one or more of these tags are displayed.</a:t>
            </a:r>
            <a:endParaRPr/>
          </a:p>
        </p:txBody>
      </p:sp>
      <p:pic>
        <p:nvPicPr>
          <p:cNvPr id="246" name="Google Shape;2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693" y="2756274"/>
            <a:ext cx="2518119" cy="278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437" y="2627175"/>
            <a:ext cx="2926200" cy="29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93c55dc1b_1_0"/>
          <p:cNvSpPr/>
          <p:nvPr/>
        </p:nvSpPr>
        <p:spPr>
          <a:xfrm>
            <a:off x="-1" y="0"/>
            <a:ext cx="12191700" cy="1098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93c55dc1b_1_0"/>
          <p:cNvSpPr/>
          <p:nvPr/>
        </p:nvSpPr>
        <p:spPr>
          <a:xfrm>
            <a:off x="-1" y="6629400"/>
            <a:ext cx="12191700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93c55dc1b_1_0"/>
          <p:cNvSpPr txBox="1"/>
          <p:nvPr/>
        </p:nvSpPr>
        <p:spPr>
          <a:xfrm>
            <a:off x="502919" y="6666483"/>
            <a:ext cx="4114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255" name="Google Shape;255;g3e93c55dc1b_1_0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JONAH</a:t>
            </a:r>
            <a:endParaRPr/>
          </a:p>
        </p:txBody>
      </p:sp>
      <p:sp>
        <p:nvSpPr>
          <p:cNvPr id="256" name="Google Shape;256;g3e93c55dc1b_1_0"/>
          <p:cNvSpPr txBox="1"/>
          <p:nvPr/>
        </p:nvSpPr>
        <p:spPr>
          <a:xfrm>
            <a:off x="594359" y="57607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Question </a:t>
            </a: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routing </a:t>
            </a: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system - question </a:t>
            </a:r>
            <a:r>
              <a:rPr b="1" lang="en-US" sz="2700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pruning</a:t>
            </a:r>
            <a:endParaRPr/>
          </a:p>
        </p:txBody>
      </p:sp>
      <p:cxnSp>
        <p:nvCxnSpPr>
          <p:cNvPr id="257" name="Google Shape;257;g3e93c55dc1b_1_0"/>
          <p:cNvCxnSpPr/>
          <p:nvPr/>
        </p:nvCxnSpPr>
        <p:spPr>
          <a:xfrm>
            <a:off x="3233835" y="2503433"/>
            <a:ext cx="808200" cy="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g3e93c55dc1b_1_0"/>
          <p:cNvCxnSpPr/>
          <p:nvPr/>
        </p:nvCxnSpPr>
        <p:spPr>
          <a:xfrm>
            <a:off x="5768138" y="2497625"/>
            <a:ext cx="655200" cy="1590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g3e93c55dc1b_1_0"/>
          <p:cNvCxnSpPr/>
          <p:nvPr/>
        </p:nvCxnSpPr>
        <p:spPr>
          <a:xfrm flipH="1" rot="10800000">
            <a:off x="8183662" y="2497625"/>
            <a:ext cx="655200" cy="1590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g3e93c55dc1b_1_0"/>
          <p:cNvSpPr/>
          <p:nvPr/>
        </p:nvSpPr>
        <p:spPr>
          <a:xfrm>
            <a:off x="1569500" y="1918450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197E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e93c55dc1b_1_0"/>
          <p:cNvSpPr txBox="1"/>
          <p:nvPr/>
        </p:nvSpPr>
        <p:spPr>
          <a:xfrm>
            <a:off x="1679227" y="2066532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Task Description</a:t>
            </a:r>
            <a:endParaRPr/>
          </a:p>
        </p:txBody>
      </p:sp>
      <p:sp>
        <p:nvSpPr>
          <p:cNvPr id="262" name="Google Shape;262;g3e93c55dc1b_1_0"/>
          <p:cNvSpPr txBox="1"/>
          <p:nvPr/>
        </p:nvSpPr>
        <p:spPr>
          <a:xfrm>
            <a:off x="1679225" y="2281930"/>
            <a:ext cx="153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7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User describes task in natural language</a:t>
            </a:r>
            <a:endParaRPr sz="1300"/>
          </a:p>
        </p:txBody>
      </p:sp>
      <p:sp>
        <p:nvSpPr>
          <p:cNvPr id="263" name="Google Shape;263;g3e93c55dc1b_1_0"/>
          <p:cNvSpPr/>
          <p:nvPr/>
        </p:nvSpPr>
        <p:spPr>
          <a:xfrm>
            <a:off x="3992660" y="1918450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2C5F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93c55dc1b_1_0"/>
          <p:cNvSpPr txBox="1"/>
          <p:nvPr/>
        </p:nvSpPr>
        <p:spPr>
          <a:xfrm>
            <a:off x="4102388" y="2066532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Tag Extraction</a:t>
            </a:r>
            <a:endParaRPr/>
          </a:p>
        </p:txBody>
      </p:sp>
      <p:sp>
        <p:nvSpPr>
          <p:cNvPr id="265" name="Google Shape;265;g3e93c55dc1b_1_0"/>
          <p:cNvSpPr txBox="1"/>
          <p:nvPr/>
        </p:nvSpPr>
        <p:spPr>
          <a:xfrm>
            <a:off x="4023750" y="2340725"/>
            <a:ext cx="1752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Text analyzed by AI for </a:t>
            </a:r>
            <a:r>
              <a:rPr lang="en-US" sz="1300">
                <a:solidFill>
                  <a:srgbClr val="34454D"/>
                </a:solidFill>
              </a:rPr>
              <a:t>relevant</a:t>
            </a:r>
            <a:r>
              <a:rPr lang="en-US" sz="1300">
                <a:solidFill>
                  <a:srgbClr val="34454D"/>
                </a:solidFill>
              </a:rPr>
              <a:t> tags</a:t>
            </a:r>
            <a:endParaRPr sz="1300"/>
          </a:p>
        </p:txBody>
      </p:sp>
      <p:sp>
        <p:nvSpPr>
          <p:cNvPr id="266" name="Google Shape;266;g3e93c55dc1b_1_0"/>
          <p:cNvSpPr/>
          <p:nvPr/>
        </p:nvSpPr>
        <p:spPr>
          <a:xfrm>
            <a:off x="6415820" y="1918450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D98C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93c55dc1b_1_0"/>
          <p:cNvSpPr txBox="1"/>
          <p:nvPr/>
        </p:nvSpPr>
        <p:spPr>
          <a:xfrm>
            <a:off x="6525547" y="2066532"/>
            <a:ext cx="155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Pre-answering</a:t>
            </a:r>
            <a:endParaRPr/>
          </a:p>
        </p:txBody>
      </p:sp>
      <p:sp>
        <p:nvSpPr>
          <p:cNvPr id="268" name="Google Shape;268;g3e93c55dc1b_1_0"/>
          <p:cNvSpPr txBox="1"/>
          <p:nvPr/>
        </p:nvSpPr>
        <p:spPr>
          <a:xfrm>
            <a:off x="6400450" y="2281925"/>
            <a:ext cx="1807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Questions pre-answered by AI based on user input</a:t>
            </a:r>
            <a:endParaRPr sz="1200"/>
          </a:p>
        </p:txBody>
      </p:sp>
      <p:sp>
        <p:nvSpPr>
          <p:cNvPr id="269" name="Google Shape;269;g3e93c55dc1b_1_0"/>
          <p:cNvSpPr/>
          <p:nvPr/>
        </p:nvSpPr>
        <p:spPr>
          <a:xfrm>
            <a:off x="8838980" y="1918450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B65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93c55dc1b_1_0"/>
          <p:cNvSpPr txBox="1"/>
          <p:nvPr/>
        </p:nvSpPr>
        <p:spPr>
          <a:xfrm>
            <a:off x="8838800" y="1958675"/>
            <a:ext cx="180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Answer-Based Routing</a:t>
            </a:r>
            <a:endParaRPr/>
          </a:p>
        </p:txBody>
      </p:sp>
      <p:sp>
        <p:nvSpPr>
          <p:cNvPr id="271" name="Google Shape;271;g3e93c55dc1b_1_0"/>
          <p:cNvSpPr txBox="1"/>
          <p:nvPr/>
        </p:nvSpPr>
        <p:spPr>
          <a:xfrm>
            <a:off x="8905850" y="2389775"/>
            <a:ext cx="16734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Tags added based on user answers</a:t>
            </a:r>
            <a:endParaRPr sz="1300"/>
          </a:p>
        </p:txBody>
      </p:sp>
      <p:cxnSp>
        <p:nvCxnSpPr>
          <p:cNvPr id="272" name="Google Shape;272;g3e93c55dc1b_1_0"/>
          <p:cNvCxnSpPr>
            <a:stCxn id="263" idx="2"/>
            <a:endCxn id="273" idx="0"/>
          </p:cNvCxnSpPr>
          <p:nvPr/>
        </p:nvCxnSpPr>
        <p:spPr>
          <a:xfrm flipH="1">
            <a:off x="4879760" y="2969950"/>
            <a:ext cx="4500" cy="777300"/>
          </a:xfrm>
          <a:prstGeom prst="straightConnector1">
            <a:avLst/>
          </a:prstGeom>
          <a:noFill/>
          <a:ln cap="flat" cmpd="sng" w="17775">
            <a:solidFill>
              <a:srgbClr val="A8C8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g3e93c55dc1b_1_0"/>
          <p:cNvCxnSpPr>
            <a:endCxn id="275" idx="0"/>
          </p:cNvCxnSpPr>
          <p:nvPr/>
        </p:nvCxnSpPr>
        <p:spPr>
          <a:xfrm>
            <a:off x="7284400" y="2997475"/>
            <a:ext cx="23100" cy="750600"/>
          </a:xfrm>
          <a:prstGeom prst="straightConnector1">
            <a:avLst/>
          </a:prstGeom>
          <a:noFill/>
          <a:ln cap="flat" cmpd="sng" w="17775">
            <a:solidFill>
              <a:srgbClr val="A8C8D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g3e93c55dc1b_1_0"/>
          <p:cNvSpPr/>
          <p:nvPr/>
        </p:nvSpPr>
        <p:spPr>
          <a:xfrm>
            <a:off x="3813350" y="3747125"/>
            <a:ext cx="2132700" cy="857700"/>
          </a:xfrm>
          <a:prstGeom prst="roundRect">
            <a:avLst>
              <a:gd fmla="val 10909" name="adj"/>
            </a:avLst>
          </a:prstGeom>
          <a:solidFill>
            <a:srgbClr val="EEF6FF"/>
          </a:solidFill>
          <a:ln cap="flat" cmpd="sng" w="12700">
            <a:solidFill>
              <a:srgbClr val="C6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93c55dc1b_1_0"/>
          <p:cNvSpPr txBox="1"/>
          <p:nvPr/>
        </p:nvSpPr>
        <p:spPr>
          <a:xfrm>
            <a:off x="4043006" y="3923400"/>
            <a:ext cx="167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F85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5F85"/>
                </a:solidFill>
              </a:rPr>
              <a:t>Tagging fallback</a:t>
            </a:r>
            <a:endParaRPr/>
          </a:p>
        </p:txBody>
      </p:sp>
      <p:sp>
        <p:nvSpPr>
          <p:cNvPr id="277" name="Google Shape;277;g3e93c55dc1b_1_0"/>
          <p:cNvSpPr txBox="1"/>
          <p:nvPr/>
        </p:nvSpPr>
        <p:spPr>
          <a:xfrm>
            <a:off x="3877350" y="4242475"/>
            <a:ext cx="204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Local keyword matching</a:t>
            </a:r>
            <a:endParaRPr/>
          </a:p>
        </p:txBody>
      </p:sp>
      <p:sp>
        <p:nvSpPr>
          <p:cNvPr id="275" name="Google Shape;275;g3e93c55dc1b_1_0"/>
          <p:cNvSpPr/>
          <p:nvPr/>
        </p:nvSpPr>
        <p:spPr>
          <a:xfrm>
            <a:off x="6241150" y="3748075"/>
            <a:ext cx="2132700" cy="857700"/>
          </a:xfrm>
          <a:prstGeom prst="roundRect">
            <a:avLst>
              <a:gd fmla="val 10909" name="adj"/>
            </a:avLst>
          </a:prstGeom>
          <a:solidFill>
            <a:srgbClr val="EEF6FF"/>
          </a:solidFill>
          <a:ln cap="flat" cmpd="sng" w="12700">
            <a:solidFill>
              <a:srgbClr val="C6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93c55dc1b_1_0"/>
          <p:cNvSpPr txBox="1"/>
          <p:nvPr/>
        </p:nvSpPr>
        <p:spPr>
          <a:xfrm>
            <a:off x="6241300" y="3924350"/>
            <a:ext cx="213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5F85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5F85"/>
                </a:solidFill>
              </a:rPr>
              <a:t>Pre-answering fallback</a:t>
            </a:r>
            <a:endParaRPr/>
          </a:p>
        </p:txBody>
      </p:sp>
      <p:sp>
        <p:nvSpPr>
          <p:cNvPr id="279" name="Google Shape;279;g3e93c55dc1b_1_0"/>
          <p:cNvSpPr txBox="1"/>
          <p:nvPr/>
        </p:nvSpPr>
        <p:spPr>
          <a:xfrm>
            <a:off x="6285100" y="4238650"/>
            <a:ext cx="204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No questions pre-answered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JONAH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594359" y="57607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Translation support</a:t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685800" y="1211551"/>
            <a:ext cx="5029200" cy="44349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85800" y="1211550"/>
            <a:ext cx="111900" cy="44349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1035042" y="1444743"/>
            <a:ext cx="4470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Static language translation files</a:t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1035042" y="1810502"/>
            <a:ext cx="44706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4454D"/>
                </a:solidFill>
              </a:rPr>
              <a:t>Separate language text files for each supported language, dynamically served depending on the user’s selection.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6349231" y="1211551"/>
            <a:ext cx="5418600" cy="44349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349231" y="1211550"/>
            <a:ext cx="120600" cy="44349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6638089" y="1385291"/>
            <a:ext cx="4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A30"/>
                </a:solidFill>
              </a:rPr>
              <a:t>Multilingual response interpretation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6725518" y="1741902"/>
            <a:ext cx="48168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Multilingual user input is handled in the Gemini API calls, producing near-identical tag lists to english descriptions.</a:t>
            </a:r>
            <a:endParaRPr/>
          </a:p>
        </p:txBody>
      </p:sp>
      <p:pic>
        <p:nvPicPr>
          <p:cNvPr id="297" name="Google Shape;29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000" y="2799988"/>
            <a:ext cx="2743900" cy="2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6725" y="2426050"/>
            <a:ext cx="3574400" cy="30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306" name="Google Shape;306;p11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KYLE</a:t>
            </a:r>
            <a:endParaRPr/>
          </a:p>
        </p:txBody>
      </p:sp>
      <p:sp>
        <p:nvSpPr>
          <p:cNvPr id="307" name="Google Shape;307;p11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Risk scoring and reporting</a:t>
            </a:r>
            <a:endParaRPr/>
          </a:p>
        </p:txBody>
      </p:sp>
      <p:pic>
        <p:nvPicPr>
          <p:cNvPr id="308" name="Google Shape;30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90312">
            <a:off x="5502862" y="1129457"/>
            <a:ext cx="5988730" cy="185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3835" y="3396488"/>
            <a:ext cx="3416014" cy="31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699945">
            <a:off x="5953426" y="3828433"/>
            <a:ext cx="1687399" cy="1124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691008">
            <a:off x="4218873" y="3693372"/>
            <a:ext cx="1687398" cy="11242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11"/>
          <p:cNvGrpSpPr/>
          <p:nvPr/>
        </p:nvGrpSpPr>
        <p:grpSpPr>
          <a:xfrm>
            <a:off x="369575" y="1454625"/>
            <a:ext cx="4381500" cy="4238550"/>
            <a:chOff x="590550" y="1333500"/>
            <a:chExt cx="4381500" cy="4238550"/>
          </a:xfrm>
        </p:grpSpPr>
        <p:sp>
          <p:nvSpPr>
            <p:cNvPr id="313" name="Google Shape;313;p11"/>
            <p:cNvSpPr/>
            <p:nvPr/>
          </p:nvSpPr>
          <p:spPr>
            <a:xfrm>
              <a:off x="590550" y="1333500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 txBox="1"/>
            <p:nvPr/>
          </p:nvSpPr>
          <p:spPr>
            <a:xfrm>
              <a:off x="590550" y="1333500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Contact Stress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Q11 - Q14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2876550" y="1333500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1"/>
            <p:cNvSpPr txBox="1"/>
            <p:nvPr/>
          </p:nvSpPr>
          <p:spPr>
            <a:xfrm>
              <a:off x="2876550" y="1333500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Force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Q15 - Q19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90550" y="2809875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 txBox="1"/>
            <p:nvPr/>
          </p:nvSpPr>
          <p:spPr>
            <a:xfrm>
              <a:off x="590550" y="2809875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Awkward Postures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Q20 - Q29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2876550" y="2809875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 txBox="1"/>
            <p:nvPr/>
          </p:nvSpPr>
          <p:spPr>
            <a:xfrm>
              <a:off x="2876550" y="2809875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Repetition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Q30 - Q36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1733550" y="4286250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1"/>
            <p:cNvSpPr txBox="1"/>
            <p:nvPr/>
          </p:nvSpPr>
          <p:spPr>
            <a:xfrm>
              <a:off x="1733550" y="4286250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Environmental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Q37 - Q42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11"/>
          <p:cNvSpPr txBox="1"/>
          <p:nvPr/>
        </p:nvSpPr>
        <p:spPr>
          <a:xfrm rot="1299147">
            <a:off x="6449701" y="5120480"/>
            <a:ext cx="2721319" cy="492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Report</a:t>
            </a:r>
            <a:endParaRPr sz="2000"/>
          </a:p>
        </p:txBody>
      </p:sp>
      <p:sp>
        <p:nvSpPr>
          <p:cNvPr id="324" name="Google Shape;324;p11"/>
          <p:cNvSpPr txBox="1"/>
          <p:nvPr/>
        </p:nvSpPr>
        <p:spPr>
          <a:xfrm rot="-539949">
            <a:off x="5707963" y="3167509"/>
            <a:ext cx="2830846" cy="4926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Code</a:t>
            </a:r>
            <a:endParaRPr sz="2000"/>
          </a:p>
        </p:txBody>
      </p:sp>
      <p:sp>
        <p:nvSpPr>
          <p:cNvPr id="325" name="Google Shape;325;p11"/>
          <p:cNvSpPr txBox="1"/>
          <p:nvPr/>
        </p:nvSpPr>
        <p:spPr>
          <a:xfrm rot="729">
            <a:off x="3647163" y="4719486"/>
            <a:ext cx="2830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Category-specific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Questions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26d0e83e9_0_73"/>
          <p:cNvSpPr/>
          <p:nvPr/>
        </p:nvSpPr>
        <p:spPr>
          <a:xfrm>
            <a:off x="-1" y="0"/>
            <a:ext cx="12191700" cy="1098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26d0e83e9_0_73"/>
          <p:cNvSpPr/>
          <p:nvPr/>
        </p:nvSpPr>
        <p:spPr>
          <a:xfrm>
            <a:off x="-1" y="6629400"/>
            <a:ext cx="12191700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e26d0e83e9_0_73"/>
          <p:cNvSpPr txBox="1"/>
          <p:nvPr/>
        </p:nvSpPr>
        <p:spPr>
          <a:xfrm>
            <a:off x="502919" y="6666483"/>
            <a:ext cx="4114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333" name="Google Shape;333;g3e26d0e83e9_0_73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KYLE</a:t>
            </a:r>
            <a:endParaRPr/>
          </a:p>
        </p:txBody>
      </p:sp>
      <p:sp>
        <p:nvSpPr>
          <p:cNvPr id="334" name="Google Shape;334;g3e26d0e83e9_0_73"/>
          <p:cNvSpPr txBox="1"/>
          <p:nvPr/>
        </p:nvSpPr>
        <p:spPr>
          <a:xfrm>
            <a:off x="594359" y="57607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Risk scoring and reporting</a:t>
            </a:r>
            <a:endParaRPr/>
          </a:p>
        </p:txBody>
      </p:sp>
      <p:grpSp>
        <p:nvGrpSpPr>
          <p:cNvPr id="335" name="Google Shape;335;g3e26d0e83e9_0_73"/>
          <p:cNvGrpSpPr/>
          <p:nvPr/>
        </p:nvGrpSpPr>
        <p:grpSpPr>
          <a:xfrm>
            <a:off x="594350" y="1453950"/>
            <a:ext cx="2095500" cy="1285800"/>
            <a:chOff x="590550" y="1333500"/>
            <a:chExt cx="2095500" cy="1285800"/>
          </a:xfrm>
        </p:grpSpPr>
        <p:sp>
          <p:nvSpPr>
            <p:cNvPr id="336" name="Google Shape;336;g3e26d0e83e9_0_73"/>
            <p:cNvSpPr/>
            <p:nvPr/>
          </p:nvSpPr>
          <p:spPr>
            <a:xfrm>
              <a:off x="590550" y="1333500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g3e26d0e83e9_0_73"/>
            <p:cNvSpPr txBox="1"/>
            <p:nvPr/>
          </p:nvSpPr>
          <p:spPr>
            <a:xfrm>
              <a:off x="590550" y="1333500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900FF"/>
                  </a:solidFill>
                  <a:latin typeface="Play"/>
                  <a:ea typeface="Play"/>
                  <a:cs typeface="Play"/>
                  <a:sym typeface="Play"/>
                </a:rPr>
                <a:t>Psychosocial</a:t>
              </a:r>
              <a:endParaRPr b="1" sz="1600">
                <a:solidFill>
                  <a:srgbClr val="9900FF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900FF"/>
                  </a:solidFill>
                  <a:latin typeface="Play"/>
                  <a:ea typeface="Play"/>
                  <a:cs typeface="Play"/>
                  <a:sym typeface="Play"/>
                </a:rPr>
                <a:t>Factors</a:t>
              </a:r>
              <a:endParaRPr b="1" sz="1600">
                <a:solidFill>
                  <a:srgbClr val="9900FF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lang="en-US" sz="1300">
                  <a:solidFill>
                    <a:srgbClr val="64748B"/>
                  </a:solidFill>
                </a:rPr>
                <a:t>7, Q8, Q41, Q42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8" name="Google Shape;338;g3e26d0e83e9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875" y="1140072"/>
            <a:ext cx="2908366" cy="533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e26d0e83e9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9016" y="1140072"/>
            <a:ext cx="2765752" cy="5336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e26d0e83e9_0_73"/>
          <p:cNvPicPr preferRelativeResize="0"/>
          <p:nvPr/>
        </p:nvPicPr>
        <p:blipFill rotWithShape="1">
          <a:blip r:embed="rId5">
            <a:alphaModFix/>
          </a:blip>
          <a:srcRect b="0" l="14524" r="21578" t="0"/>
          <a:stretch/>
        </p:blipFill>
        <p:spPr>
          <a:xfrm>
            <a:off x="7172475" y="3257500"/>
            <a:ext cx="4211675" cy="1181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41" name="Google Shape;341;g3e26d0e83e9_0_73"/>
          <p:cNvCxnSpPr/>
          <p:nvPr/>
        </p:nvCxnSpPr>
        <p:spPr>
          <a:xfrm flipH="1">
            <a:off x="7186475" y="2672375"/>
            <a:ext cx="756000" cy="5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g3e26d0e83e9_0_73"/>
          <p:cNvCxnSpPr/>
          <p:nvPr/>
        </p:nvCxnSpPr>
        <p:spPr>
          <a:xfrm rot="10800000">
            <a:off x="10178900" y="2672350"/>
            <a:ext cx="1181400" cy="5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g3e26d0e83e9_0_73"/>
          <p:cNvCxnSpPr/>
          <p:nvPr/>
        </p:nvCxnSpPr>
        <p:spPr>
          <a:xfrm flipH="1">
            <a:off x="7776900" y="2932150"/>
            <a:ext cx="162600" cy="3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g3e26d0e83e9_0_73"/>
          <p:cNvCxnSpPr/>
          <p:nvPr/>
        </p:nvCxnSpPr>
        <p:spPr>
          <a:xfrm>
            <a:off x="10181900" y="2923200"/>
            <a:ext cx="27240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g3e26d0e83e9_0_73"/>
          <p:cNvSpPr/>
          <p:nvPr/>
        </p:nvSpPr>
        <p:spPr>
          <a:xfrm>
            <a:off x="7939425" y="2669400"/>
            <a:ext cx="2243400" cy="26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6" name="Google Shape;346;g3e26d0e83e9_0_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75" y="3359400"/>
            <a:ext cx="3689076" cy="245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960d9a570_9_15"/>
          <p:cNvSpPr/>
          <p:nvPr/>
        </p:nvSpPr>
        <p:spPr>
          <a:xfrm>
            <a:off x="-1" y="0"/>
            <a:ext cx="12191700" cy="1098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960d9a570_9_15"/>
          <p:cNvSpPr/>
          <p:nvPr/>
        </p:nvSpPr>
        <p:spPr>
          <a:xfrm>
            <a:off x="-1" y="6629400"/>
            <a:ext cx="12191700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e960d9a570_9_15"/>
          <p:cNvSpPr txBox="1"/>
          <p:nvPr/>
        </p:nvSpPr>
        <p:spPr>
          <a:xfrm>
            <a:off x="502919" y="6666483"/>
            <a:ext cx="4114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354" name="Google Shape;354;g3e960d9a570_9_15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KYLE</a:t>
            </a:r>
            <a:endParaRPr/>
          </a:p>
        </p:txBody>
      </p:sp>
      <p:sp>
        <p:nvSpPr>
          <p:cNvPr id="355" name="Google Shape;355;g3e960d9a570_9_15"/>
          <p:cNvSpPr txBox="1"/>
          <p:nvPr/>
        </p:nvSpPr>
        <p:spPr>
          <a:xfrm>
            <a:off x="594359" y="57607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Risk scoring and reporting</a:t>
            </a:r>
            <a:endParaRPr/>
          </a:p>
        </p:txBody>
      </p:sp>
      <p:grpSp>
        <p:nvGrpSpPr>
          <p:cNvPr id="356" name="Google Shape;356;g3e960d9a570_9_15"/>
          <p:cNvGrpSpPr/>
          <p:nvPr/>
        </p:nvGrpSpPr>
        <p:grpSpPr>
          <a:xfrm>
            <a:off x="594350" y="1453950"/>
            <a:ext cx="2095500" cy="1285800"/>
            <a:chOff x="590550" y="1333500"/>
            <a:chExt cx="2095500" cy="1285800"/>
          </a:xfrm>
        </p:grpSpPr>
        <p:sp>
          <p:nvSpPr>
            <p:cNvPr id="357" name="Google Shape;357;g3e960d9a570_9_15"/>
            <p:cNvSpPr/>
            <p:nvPr/>
          </p:nvSpPr>
          <p:spPr>
            <a:xfrm>
              <a:off x="590550" y="1333500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g3e960d9a570_9_15"/>
            <p:cNvSpPr txBox="1"/>
            <p:nvPr/>
          </p:nvSpPr>
          <p:spPr>
            <a:xfrm>
              <a:off x="590550" y="1333500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Meta-categorical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Factors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lang="en-US" sz="1300">
                  <a:solidFill>
                    <a:srgbClr val="64748B"/>
                  </a:solidFill>
                </a:rPr>
                <a:t>1 - Q4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9" name="Google Shape;359;g3e960d9a570_9_15"/>
          <p:cNvCxnSpPr/>
          <p:nvPr/>
        </p:nvCxnSpPr>
        <p:spPr>
          <a:xfrm>
            <a:off x="6271935" y="1840952"/>
            <a:ext cx="808200" cy="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g3e960d9a570_9_15"/>
          <p:cNvSpPr/>
          <p:nvPr/>
        </p:nvSpPr>
        <p:spPr>
          <a:xfrm>
            <a:off x="4617725" y="1304900"/>
            <a:ext cx="1783200" cy="10515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197E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960d9a570_9_15"/>
          <p:cNvSpPr txBox="1"/>
          <p:nvPr/>
        </p:nvSpPr>
        <p:spPr>
          <a:xfrm>
            <a:off x="4913101" y="1492082"/>
            <a:ext cx="1167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lay"/>
                <a:ea typeface="Play"/>
                <a:cs typeface="Play"/>
                <a:sym typeface="Play"/>
              </a:rPr>
              <a:t>Collect the answers</a:t>
            </a:r>
            <a:endParaRPr sz="1600"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362" name="Google Shape;362;g3e960d9a570_9_15"/>
          <p:cNvCxnSpPr>
            <a:stCxn id="363" idx="3"/>
          </p:cNvCxnSpPr>
          <p:nvPr/>
        </p:nvCxnSpPr>
        <p:spPr>
          <a:xfrm>
            <a:off x="9175625" y="1840950"/>
            <a:ext cx="366900" cy="10200"/>
          </a:xfrm>
          <a:prstGeom prst="straightConnector1">
            <a:avLst/>
          </a:prstGeom>
          <a:noFill/>
          <a:ln cap="flat" cmpd="sng" w="25400">
            <a:solidFill>
              <a:srgbClr val="197E6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3" name="Google Shape;363;g3e960d9a570_9_15"/>
          <p:cNvSpPr/>
          <p:nvPr/>
        </p:nvSpPr>
        <p:spPr>
          <a:xfrm>
            <a:off x="7080125" y="1198050"/>
            <a:ext cx="2095500" cy="12858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197E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e960d9a570_9_15"/>
          <p:cNvSpPr txBox="1"/>
          <p:nvPr/>
        </p:nvSpPr>
        <p:spPr>
          <a:xfrm>
            <a:off x="7105475" y="1245775"/>
            <a:ext cx="2044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lay"/>
                <a:ea typeface="Play"/>
                <a:cs typeface="Play"/>
                <a:sym typeface="Play"/>
              </a:rPr>
              <a:t>Wait for the AI response while the user answers other questions</a:t>
            </a:r>
            <a:endParaRPr sz="16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5" name="Google Shape;365;g3e960d9a570_9_15"/>
          <p:cNvSpPr/>
          <p:nvPr/>
        </p:nvSpPr>
        <p:spPr>
          <a:xfrm>
            <a:off x="9567875" y="1194079"/>
            <a:ext cx="2095500" cy="128580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19050">
            <a:solidFill>
              <a:srgbClr val="197E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e960d9a570_9_15"/>
          <p:cNvSpPr txBox="1"/>
          <p:nvPr/>
        </p:nvSpPr>
        <p:spPr>
          <a:xfrm>
            <a:off x="9593225" y="1241804"/>
            <a:ext cx="2044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lay"/>
                <a:ea typeface="Play"/>
                <a:cs typeface="Play"/>
                <a:sym typeface="Play"/>
              </a:rPr>
              <a:t>Include the response in the generated PDF report</a:t>
            </a:r>
            <a:endParaRPr sz="16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67" name="Google Shape;367;g3e960d9a570_9_15"/>
          <p:cNvPicPr preferRelativeResize="0"/>
          <p:nvPr/>
        </p:nvPicPr>
        <p:blipFill rotWithShape="1">
          <a:blip r:embed="rId3">
            <a:alphaModFix/>
          </a:blip>
          <a:srcRect b="0" l="0" r="52326" t="0"/>
          <a:stretch/>
        </p:blipFill>
        <p:spPr>
          <a:xfrm>
            <a:off x="502925" y="3181318"/>
            <a:ext cx="4538348" cy="17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e960d9a570_9_15"/>
          <p:cNvPicPr preferRelativeResize="0"/>
          <p:nvPr/>
        </p:nvPicPr>
        <p:blipFill rotWithShape="1">
          <a:blip r:embed="rId3">
            <a:alphaModFix/>
          </a:blip>
          <a:srcRect b="0" l="47171" r="0" t="0"/>
          <a:stretch/>
        </p:blipFill>
        <p:spPr>
          <a:xfrm>
            <a:off x="502921" y="4864275"/>
            <a:ext cx="5029200" cy="17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e960d9a570_9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875" y="2610251"/>
            <a:ext cx="4406300" cy="39521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g3e960d9a570_9_15"/>
          <p:cNvCxnSpPr/>
          <p:nvPr/>
        </p:nvCxnSpPr>
        <p:spPr>
          <a:xfrm>
            <a:off x="8568875" y="3577675"/>
            <a:ext cx="99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g3e960d9a570_9_15"/>
          <p:cNvCxnSpPr/>
          <p:nvPr/>
        </p:nvCxnSpPr>
        <p:spPr>
          <a:xfrm>
            <a:off x="6793050" y="3962407"/>
            <a:ext cx="3928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g3e960d9a570_9_15"/>
          <p:cNvCxnSpPr/>
          <p:nvPr/>
        </p:nvCxnSpPr>
        <p:spPr>
          <a:xfrm>
            <a:off x="6793050" y="5171832"/>
            <a:ext cx="2627400" cy="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g3e960d9a570_9_15"/>
          <p:cNvCxnSpPr/>
          <p:nvPr/>
        </p:nvCxnSpPr>
        <p:spPr>
          <a:xfrm flipH="1" rot="10800000">
            <a:off x="3356975" y="3519500"/>
            <a:ext cx="5076000" cy="8829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4" name="Google Shape;374;g3e960d9a570_9_15"/>
          <p:cNvCxnSpPr/>
          <p:nvPr/>
        </p:nvCxnSpPr>
        <p:spPr>
          <a:xfrm flipH="1" rot="10800000">
            <a:off x="4890275" y="4042400"/>
            <a:ext cx="1881900" cy="12312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5" name="Google Shape;375;g3e960d9a570_9_15"/>
          <p:cNvCxnSpPr/>
          <p:nvPr/>
        </p:nvCxnSpPr>
        <p:spPr>
          <a:xfrm flipH="1" rot="10800000">
            <a:off x="4066950" y="5110900"/>
            <a:ext cx="2623800" cy="10206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6" name="Google Shape;376;g3e960d9a570_9_15"/>
          <p:cNvSpPr txBox="1"/>
          <p:nvPr/>
        </p:nvSpPr>
        <p:spPr>
          <a:xfrm>
            <a:off x="561332" y="2841800"/>
            <a:ext cx="154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Example Case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960d9a570_9_76"/>
          <p:cNvSpPr/>
          <p:nvPr/>
        </p:nvSpPr>
        <p:spPr>
          <a:xfrm>
            <a:off x="-1" y="0"/>
            <a:ext cx="12191700" cy="1098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960d9a570_9_76"/>
          <p:cNvSpPr/>
          <p:nvPr/>
        </p:nvSpPr>
        <p:spPr>
          <a:xfrm>
            <a:off x="-1" y="6629400"/>
            <a:ext cx="12191700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e960d9a570_9_76"/>
          <p:cNvSpPr txBox="1"/>
          <p:nvPr/>
        </p:nvSpPr>
        <p:spPr>
          <a:xfrm>
            <a:off x="502919" y="6666483"/>
            <a:ext cx="4114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384" name="Google Shape;384;g3e960d9a570_9_76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KYLE</a:t>
            </a:r>
            <a:endParaRPr/>
          </a:p>
        </p:txBody>
      </p:sp>
      <p:sp>
        <p:nvSpPr>
          <p:cNvPr id="385" name="Google Shape;385;g3e960d9a570_9_76"/>
          <p:cNvSpPr txBox="1"/>
          <p:nvPr/>
        </p:nvSpPr>
        <p:spPr>
          <a:xfrm>
            <a:off x="594359" y="576072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Risk scoring and reporting</a:t>
            </a:r>
            <a:endParaRPr/>
          </a:p>
        </p:txBody>
      </p:sp>
      <p:grpSp>
        <p:nvGrpSpPr>
          <p:cNvPr id="386" name="Google Shape;386;g3e960d9a570_9_76"/>
          <p:cNvGrpSpPr/>
          <p:nvPr/>
        </p:nvGrpSpPr>
        <p:grpSpPr>
          <a:xfrm>
            <a:off x="594350" y="1453950"/>
            <a:ext cx="2095500" cy="1285800"/>
            <a:chOff x="590550" y="1333500"/>
            <a:chExt cx="2095500" cy="1285800"/>
          </a:xfrm>
        </p:grpSpPr>
        <p:sp>
          <p:nvSpPr>
            <p:cNvPr id="387" name="Google Shape;387;g3e960d9a570_9_76"/>
            <p:cNvSpPr/>
            <p:nvPr/>
          </p:nvSpPr>
          <p:spPr>
            <a:xfrm>
              <a:off x="590550" y="1333500"/>
              <a:ext cx="2095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g3e960d9a570_9_76"/>
            <p:cNvSpPr txBox="1"/>
            <p:nvPr/>
          </p:nvSpPr>
          <p:spPr>
            <a:xfrm>
              <a:off x="590550" y="1333500"/>
              <a:ext cx="2095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97E6C"/>
                  </a:solidFill>
                  <a:latin typeface="Play"/>
                  <a:ea typeface="Play"/>
                  <a:cs typeface="Play"/>
                  <a:sym typeface="Play"/>
                </a:rPr>
                <a:t>Current Symptoms Checklist</a:t>
              </a:r>
              <a:endParaRPr b="1" sz="1600">
                <a:solidFill>
                  <a:srgbClr val="197E6C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</a:rPr>
                <a:t>Q10</a:t>
              </a:r>
              <a:endParaRPr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9" name="Google Shape;389;g3e960d9a570_9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550" y="1140072"/>
            <a:ext cx="2757202" cy="5336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e960d9a570_9_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799837">
            <a:off x="6081648" y="480276"/>
            <a:ext cx="1687400" cy="112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e960d9a570_9_76"/>
          <p:cNvPicPr preferRelativeResize="0"/>
          <p:nvPr/>
        </p:nvPicPr>
        <p:blipFill rotWithShape="1">
          <a:blip r:embed="rId5">
            <a:alphaModFix/>
          </a:blip>
          <a:srcRect b="0" l="49637" r="0" t="0"/>
          <a:stretch/>
        </p:blipFill>
        <p:spPr>
          <a:xfrm>
            <a:off x="7347850" y="1544600"/>
            <a:ext cx="4245425" cy="452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e960d9a570_9_76"/>
          <p:cNvSpPr txBox="1"/>
          <p:nvPr/>
        </p:nvSpPr>
        <p:spPr>
          <a:xfrm rot="-379">
            <a:off x="7987326" y="987832"/>
            <a:ext cx="272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Report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NICK</a:t>
            </a:r>
            <a:endParaRPr/>
          </a:p>
        </p:txBody>
      </p:sp>
      <p:sp>
        <p:nvSpPr>
          <p:cNvPr id="401" name="Google Shape;401;p12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Live demo: questionnaire flow</a:t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685800" y="2466864"/>
            <a:ext cx="3291900" cy="1627500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685800" y="2466864"/>
            <a:ext cx="73200" cy="16275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914399" y="2631457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Original survey </a:t>
            </a:r>
            <a:endParaRPr sz="1800"/>
          </a:p>
        </p:txBody>
      </p:sp>
      <p:sp>
        <p:nvSpPr>
          <p:cNvPr id="405" name="Google Shape;405;p12"/>
          <p:cNvSpPr txBox="1"/>
          <p:nvPr/>
        </p:nvSpPr>
        <p:spPr>
          <a:xfrm>
            <a:off x="914399" y="2997217"/>
            <a:ext cx="2926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Asked over 30 questions for each task/job, with some being irrelevant.</a:t>
            </a:r>
            <a:endParaRPr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34454D"/>
              </a:solidFill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434840" y="2466864"/>
            <a:ext cx="3291900" cy="1627500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434840" y="2466864"/>
            <a:ext cx="73200" cy="1627500"/>
          </a:xfrm>
          <a:prstGeom prst="rect">
            <a:avLst/>
          </a:prstGeom>
          <a:solidFill>
            <a:srgbClr val="49A39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 txBox="1"/>
          <p:nvPr/>
        </p:nvSpPr>
        <p:spPr>
          <a:xfrm>
            <a:off x="4663440" y="2631457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Survey rebuilder</a:t>
            </a:r>
            <a:endParaRPr sz="1800"/>
          </a:p>
        </p:txBody>
      </p:sp>
      <p:sp>
        <p:nvSpPr>
          <p:cNvPr id="409" name="Google Shape;409;p12"/>
          <p:cNvSpPr txBox="1"/>
          <p:nvPr/>
        </p:nvSpPr>
        <p:spPr>
          <a:xfrm>
            <a:off x="4663440" y="2997217"/>
            <a:ext cx="2926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Uses AI and tag system to prune questions for a shorter survey</a:t>
            </a:r>
            <a:r>
              <a:rPr lang="en-US">
                <a:solidFill>
                  <a:srgbClr val="34454D"/>
                </a:solidFill>
              </a:rPr>
              <a:t>.</a:t>
            </a:r>
            <a:endParaRPr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34454D"/>
              </a:solidFill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8183880" y="2466864"/>
            <a:ext cx="3291900" cy="1627500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8183880" y="2466864"/>
            <a:ext cx="73200" cy="16275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8412480" y="2631457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Key improvement</a:t>
            </a:r>
            <a:endParaRPr b="1" sz="1800">
              <a:solidFill>
                <a:srgbClr val="1F2A30"/>
              </a:solidFill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8412480" y="2997217"/>
            <a:ext cx="292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Shorter surveys will allow users to finish their surveys in 10 minutes.</a:t>
            </a:r>
            <a:endParaRPr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34454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421" name="Google Shape;421;p13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ABDULLAH</a:t>
            </a:r>
            <a:endParaRPr/>
          </a:p>
        </p:txBody>
      </p:sp>
      <p:sp>
        <p:nvSpPr>
          <p:cNvPr id="422" name="Google Shape;422;p13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Live demo: report walkthrough</a:t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85800" y="2466864"/>
            <a:ext cx="3291900" cy="1627500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85800" y="2466864"/>
            <a:ext cx="73200" cy="16275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 txBox="1"/>
          <p:nvPr/>
        </p:nvSpPr>
        <p:spPr>
          <a:xfrm>
            <a:off x="914399" y="2631457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Original report </a:t>
            </a:r>
            <a:endParaRPr sz="1800"/>
          </a:p>
        </p:txBody>
      </p:sp>
      <p:sp>
        <p:nvSpPr>
          <p:cNvPr id="426" name="Google Shape;426;p13"/>
          <p:cNvSpPr txBox="1"/>
          <p:nvPr/>
        </p:nvSpPr>
        <p:spPr>
          <a:xfrm>
            <a:off x="914399" y="2997217"/>
            <a:ext cx="2926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Text-heavy pages with useful content, but harder to scan quickly.</a:t>
            </a:r>
            <a:endParaRPr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34454D"/>
              </a:solidFill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4434840" y="2466864"/>
            <a:ext cx="3291900" cy="1627500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4434840" y="2466864"/>
            <a:ext cx="73200" cy="1627500"/>
          </a:xfrm>
          <a:prstGeom prst="rect">
            <a:avLst/>
          </a:prstGeom>
          <a:solidFill>
            <a:srgbClr val="49A39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4663440" y="2631457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Redesigned report </a:t>
            </a:r>
            <a:endParaRPr sz="1800"/>
          </a:p>
        </p:txBody>
      </p:sp>
      <p:sp>
        <p:nvSpPr>
          <p:cNvPr id="430" name="Google Shape;430;p13"/>
          <p:cNvSpPr txBox="1"/>
          <p:nvPr/>
        </p:nvSpPr>
        <p:spPr>
          <a:xfrm>
            <a:off x="4663440" y="2997217"/>
            <a:ext cx="2926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Clearer layout, summary-first structure, and better visual hierarchy.</a:t>
            </a:r>
            <a:endParaRPr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34454D"/>
              </a:solidFill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8183880" y="2466864"/>
            <a:ext cx="3291900" cy="1627500"/>
          </a:xfrm>
          <a:prstGeom prst="roundRect">
            <a:avLst>
              <a:gd fmla="val 449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8183880" y="2466864"/>
            <a:ext cx="73200" cy="16275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 txBox="1"/>
          <p:nvPr/>
        </p:nvSpPr>
        <p:spPr>
          <a:xfrm>
            <a:off x="8412480" y="2631457"/>
            <a:ext cx="2926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Key UX improvement</a:t>
            </a:r>
            <a:endParaRPr b="1" sz="1800">
              <a:solidFill>
                <a:srgbClr val="1F2A30"/>
              </a:solidFill>
            </a:endParaRPr>
          </a:p>
        </p:txBody>
      </p:sp>
      <p:sp>
        <p:nvSpPr>
          <p:cNvPr id="434" name="Google Shape;434;p13"/>
          <p:cNvSpPr txBox="1"/>
          <p:nvPr/>
        </p:nvSpPr>
        <p:spPr>
          <a:xfrm>
            <a:off x="8412480" y="2997217"/>
            <a:ext cx="2926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34454D"/>
                </a:solidFill>
              </a:rPr>
              <a:t>Dynamic body diagram highlights worker-reported discomfort areas visually.</a:t>
            </a:r>
            <a:endParaRPr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t/>
            </a:r>
            <a:endParaRPr>
              <a:solidFill>
                <a:srgbClr val="34454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442" name="Google Shape;442;p14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97E6C"/>
                </a:solidFill>
              </a:rPr>
              <a:t>KYLE</a:t>
            </a:r>
            <a:endParaRPr/>
          </a:p>
        </p:txBody>
      </p:sp>
      <p:sp>
        <p:nvSpPr>
          <p:cNvPr id="443" name="Google Shape;443;p14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Project management and delivery</a:t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685800" y="1188725"/>
            <a:ext cx="11182800" cy="289170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85800" y="1188725"/>
            <a:ext cx="11182800" cy="3474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868680" y="1277111"/>
            <a:ext cx="1097281" cy="152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</a:t>
            </a:r>
            <a:endParaRPr/>
          </a:p>
        </p:txBody>
      </p:sp>
      <p:sp>
        <p:nvSpPr>
          <p:cNvPr id="447" name="Google Shape;447;p14"/>
          <p:cNvSpPr txBox="1"/>
          <p:nvPr/>
        </p:nvSpPr>
        <p:spPr>
          <a:xfrm>
            <a:off x="2148839" y="1277111"/>
            <a:ext cx="1828801" cy="152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Planned work</a:t>
            </a:r>
            <a:endParaRPr/>
          </a:p>
        </p:txBody>
      </p:sp>
      <p:sp>
        <p:nvSpPr>
          <p:cNvPr id="448" name="Google Shape;448;p14"/>
          <p:cNvSpPr txBox="1"/>
          <p:nvPr/>
        </p:nvSpPr>
        <p:spPr>
          <a:xfrm>
            <a:off x="7452359" y="1277111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status</a:t>
            </a:r>
            <a:endParaRPr/>
          </a:p>
        </p:txBody>
      </p:sp>
      <p:sp>
        <p:nvSpPr>
          <p:cNvPr id="449" name="Google Shape;449;p14"/>
          <p:cNvSpPr txBox="1"/>
          <p:nvPr/>
        </p:nvSpPr>
        <p:spPr>
          <a:xfrm>
            <a:off x="868680" y="1737105"/>
            <a:ext cx="1005840" cy="165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/>
          </a:p>
        </p:txBody>
      </p:sp>
      <p:sp>
        <p:nvSpPr>
          <p:cNvPr id="450" name="Google Shape;450;p14"/>
          <p:cNvSpPr txBox="1"/>
          <p:nvPr/>
        </p:nvSpPr>
        <p:spPr>
          <a:xfrm>
            <a:off x="2148840" y="1737360"/>
            <a:ext cx="470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79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Requirements, SOW, diagrams, repo setup, technical stack confirmation, initial setup</a:t>
            </a:r>
            <a:endParaRPr sz="1300"/>
          </a:p>
        </p:txBody>
      </p:sp>
      <p:sp>
        <p:nvSpPr>
          <p:cNvPr id="451" name="Google Shape;451;p14"/>
          <p:cNvSpPr txBox="1"/>
          <p:nvPr/>
        </p:nvSpPr>
        <p:spPr>
          <a:xfrm>
            <a:off x="7452350" y="1737100"/>
            <a:ext cx="417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79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100% complete</a:t>
            </a:r>
            <a:endParaRPr i="1" sz="1100">
              <a:solidFill>
                <a:srgbClr val="68787F"/>
              </a:solidFill>
            </a:endParaRPr>
          </a:p>
        </p:txBody>
      </p:sp>
      <p:sp>
        <p:nvSpPr>
          <p:cNvPr id="452" name="Google Shape;452;p14"/>
          <p:cNvSpPr txBox="1"/>
          <p:nvPr/>
        </p:nvSpPr>
        <p:spPr>
          <a:xfrm>
            <a:off x="868680" y="2468625"/>
            <a:ext cx="1005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/>
          </a:p>
        </p:txBody>
      </p:sp>
      <p:sp>
        <p:nvSpPr>
          <p:cNvPr id="453" name="Google Shape;453;p14"/>
          <p:cNvSpPr txBox="1"/>
          <p:nvPr/>
        </p:nvSpPr>
        <p:spPr>
          <a:xfrm>
            <a:off x="2148840" y="2468879"/>
            <a:ext cx="470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034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Dynamic questionnaire, scoring engine, results page, early PDF report prototype</a:t>
            </a:r>
            <a:endParaRPr sz="1300"/>
          </a:p>
        </p:txBody>
      </p:sp>
      <p:sp>
        <p:nvSpPr>
          <p:cNvPr id="454" name="Google Shape;454;p14"/>
          <p:cNvSpPr txBox="1"/>
          <p:nvPr/>
        </p:nvSpPr>
        <p:spPr>
          <a:xfrm>
            <a:off x="7452350" y="2468625"/>
            <a:ext cx="42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79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100% complete</a:t>
            </a:r>
            <a:endParaRPr i="1" sz="1100">
              <a:solidFill>
                <a:srgbClr val="68787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34454D"/>
              </a:solidFill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868680" y="3200145"/>
            <a:ext cx="1005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/>
          </a:p>
        </p:txBody>
      </p:sp>
      <p:sp>
        <p:nvSpPr>
          <p:cNvPr id="456" name="Google Shape;456;p14"/>
          <p:cNvSpPr txBox="1"/>
          <p:nvPr/>
        </p:nvSpPr>
        <p:spPr>
          <a:xfrm>
            <a:off x="2148840" y="3200400"/>
            <a:ext cx="470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T</a:t>
            </a: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ranslation</a:t>
            </a:r>
            <a:r>
              <a:rPr lang="en-US" sz="1300">
                <a:solidFill>
                  <a:srgbClr val="34454D"/>
                </a:solidFill>
              </a:rPr>
              <a:t>s</a:t>
            </a: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, final PDF report, testing, bug fixes, demo, hand-off</a:t>
            </a:r>
            <a:endParaRPr sz="1300"/>
          </a:p>
        </p:txBody>
      </p:sp>
      <p:sp>
        <p:nvSpPr>
          <p:cNvPr id="457" name="Google Shape;457;p14"/>
          <p:cNvSpPr txBox="1"/>
          <p:nvPr/>
        </p:nvSpPr>
        <p:spPr>
          <a:xfrm>
            <a:off x="7452348" y="3200150"/>
            <a:ext cx="422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79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100% complete</a:t>
            </a:r>
            <a:endParaRPr i="1" sz="1100">
              <a:solidFill>
                <a:srgbClr val="68787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34454D"/>
              </a:solidFill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685800" y="4326575"/>
            <a:ext cx="3108900" cy="1931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685800" y="4326575"/>
            <a:ext cx="73200" cy="19311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4"/>
          <p:cNvSpPr txBox="1"/>
          <p:nvPr/>
        </p:nvSpPr>
        <p:spPr>
          <a:xfrm>
            <a:off x="914400" y="4491166"/>
            <a:ext cx="2743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Total actual hours</a:t>
            </a:r>
            <a:endParaRPr/>
          </a:p>
        </p:txBody>
      </p:sp>
      <p:sp>
        <p:nvSpPr>
          <p:cNvPr id="461" name="Google Shape;461;p14"/>
          <p:cNvSpPr txBox="1"/>
          <p:nvPr/>
        </p:nvSpPr>
        <p:spPr>
          <a:xfrm>
            <a:off x="914400" y="4856922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500+ hours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4343400" y="4326575"/>
            <a:ext cx="3108900" cy="1931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343400" y="4326575"/>
            <a:ext cx="73200" cy="19311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/>
          <p:cNvSpPr txBox="1"/>
          <p:nvPr/>
        </p:nvSpPr>
        <p:spPr>
          <a:xfrm>
            <a:off x="4572000" y="4491166"/>
            <a:ext cx="27432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Main risks</a:t>
            </a:r>
            <a:endParaRPr/>
          </a:p>
        </p:txBody>
      </p:sp>
      <p:sp>
        <p:nvSpPr>
          <p:cNvPr id="465" name="Google Shape;465;p14"/>
          <p:cNvSpPr txBox="1"/>
          <p:nvPr/>
        </p:nvSpPr>
        <p:spPr>
          <a:xfrm>
            <a:off x="4572000" y="4856923"/>
            <a:ext cx="27432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Dynamic PDF layout stability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AI/multilingual content accuracy and QA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8001000" y="4326575"/>
            <a:ext cx="3474600" cy="1931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8001000" y="4326575"/>
            <a:ext cx="73200" cy="19311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4"/>
          <p:cNvSpPr txBox="1"/>
          <p:nvPr/>
        </p:nvSpPr>
        <p:spPr>
          <a:xfrm>
            <a:off x="8229600" y="4491166"/>
            <a:ext cx="31089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How risks were handled</a:t>
            </a:r>
            <a:endParaRPr/>
          </a:p>
        </p:txBody>
      </p:sp>
      <p:sp>
        <p:nvSpPr>
          <p:cNvPr id="469" name="Google Shape;469;p14"/>
          <p:cNvSpPr txBox="1"/>
          <p:nvPr/>
        </p:nvSpPr>
        <p:spPr>
          <a:xfrm>
            <a:off x="8229600" y="4856925"/>
            <a:ext cx="310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Client/supervisor clarification for scoring gaps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Review/QA and regression testing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Bug-fix tickets and hand-off documentation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477" name="Google Shape;477;p16"/>
          <p:cNvSpPr txBox="1"/>
          <p:nvPr/>
        </p:nvSpPr>
        <p:spPr>
          <a:xfrm>
            <a:off x="594359" y="34163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97E6C"/>
                </a:solidFill>
              </a:rPr>
              <a:t>KYLE</a:t>
            </a:r>
            <a:endParaRPr/>
          </a:p>
        </p:txBody>
      </p:sp>
      <p:sp>
        <p:nvSpPr>
          <p:cNvPr id="478" name="Google Shape;478;p16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Complexity, creativity, and innovation</a:t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85800" y="1234439"/>
            <a:ext cx="3291841" cy="4343401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685800" y="1234439"/>
            <a:ext cx="73153" cy="434340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/>
        </p:nvSpPr>
        <p:spPr>
          <a:xfrm>
            <a:off x="914399" y="1399032"/>
            <a:ext cx="2926082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Technical complexity</a:t>
            </a:r>
            <a:endParaRPr sz="1800"/>
          </a:p>
        </p:txBody>
      </p:sp>
      <p:sp>
        <p:nvSpPr>
          <p:cNvPr id="482" name="Google Shape;482;p16"/>
          <p:cNvSpPr txBox="1"/>
          <p:nvPr/>
        </p:nvSpPr>
        <p:spPr>
          <a:xfrm>
            <a:off x="914400" y="2029574"/>
            <a:ext cx="2926200" cy="3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Rule-based MSI scoring engine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Integrated scoring, AI analysis, translations, and PDF generation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4434840" y="1234439"/>
            <a:ext cx="3291841" cy="4343401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4434840" y="1234439"/>
            <a:ext cx="73153" cy="43434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 txBox="1"/>
          <p:nvPr/>
        </p:nvSpPr>
        <p:spPr>
          <a:xfrm>
            <a:off x="4663440" y="1399032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Design complexity</a:t>
            </a:r>
            <a:endParaRPr sz="1800"/>
          </a:p>
        </p:txBody>
      </p:sp>
      <p:sp>
        <p:nvSpPr>
          <p:cNvPr id="486" name="Google Shape;486;p16"/>
          <p:cNvSpPr txBox="1"/>
          <p:nvPr/>
        </p:nvSpPr>
        <p:spPr>
          <a:xfrm>
            <a:off x="4663450" y="2029700"/>
            <a:ext cx="2926200" cy="3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Simplified complex ergonomic assessment for non-technical users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Dynamic report design for different jobs, tasks, and risk categories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7" name="Google Shape;487;p16"/>
          <p:cNvSpPr/>
          <p:nvPr/>
        </p:nvSpPr>
        <p:spPr>
          <a:xfrm>
            <a:off x="8183880" y="1234439"/>
            <a:ext cx="3291841" cy="4343401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8183880" y="1234439"/>
            <a:ext cx="73153" cy="4343401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6"/>
          <p:cNvSpPr txBox="1"/>
          <p:nvPr/>
        </p:nvSpPr>
        <p:spPr>
          <a:xfrm>
            <a:off x="8412480" y="1399032"/>
            <a:ext cx="292608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Innovation</a:t>
            </a:r>
            <a:endParaRPr sz="1800"/>
          </a:p>
        </p:txBody>
      </p:sp>
      <p:sp>
        <p:nvSpPr>
          <p:cNvPr id="490" name="Google Shape;490;p16"/>
          <p:cNvSpPr txBox="1"/>
          <p:nvPr/>
        </p:nvSpPr>
        <p:spPr>
          <a:xfrm>
            <a:off x="8412475" y="2029699"/>
            <a:ext cx="2926200" cy="3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AI-assisted question filtering and report enrichment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Psychosocial factors and contextual information added beyond physical risk scoring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Gemini returns question tags for any language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</a:t>
            </a:r>
            <a:r>
              <a:rPr lang="en-US">
                <a:solidFill>
                  <a:schemeClr val="dk1"/>
                </a:solidFill>
              </a:rPr>
              <a:t>ody diagram for intuitive, creative assessment visualization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5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498" name="Google Shape;498;p15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499" name="Google Shape;499;p15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Teamwork and collaboration</a:t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685800" y="1234439"/>
            <a:ext cx="10789920" cy="914401"/>
          </a:xfrm>
          <a:prstGeom prst="roundRect">
            <a:avLst>
              <a:gd fmla="val 12000" name="adj"/>
            </a:avLst>
          </a:prstGeom>
          <a:solidFill>
            <a:srgbClr val="EAF2F0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 txBox="1"/>
          <p:nvPr/>
        </p:nvSpPr>
        <p:spPr>
          <a:xfrm>
            <a:off x="960119" y="1414780"/>
            <a:ext cx="2286001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Coordination model</a:t>
            </a:r>
            <a:endParaRPr/>
          </a:p>
        </p:txBody>
      </p:sp>
      <p:sp>
        <p:nvSpPr>
          <p:cNvPr id="502" name="Google Shape;502;p15"/>
          <p:cNvSpPr txBox="1"/>
          <p:nvPr/>
        </p:nvSpPr>
        <p:spPr>
          <a:xfrm>
            <a:off x="3337559" y="1444752"/>
            <a:ext cx="7543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064"/>
              <a:buFont typeface="Arial"/>
              <a:buNone/>
            </a:pPr>
            <a:r>
              <a:rPr b="0" i="0" lang="en-US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Short sprint cycles, detailed task tracking, frequent </a:t>
            </a:r>
            <a:r>
              <a:rPr lang="en-US">
                <a:solidFill>
                  <a:srgbClr val="1F2A30"/>
                </a:solidFill>
              </a:rPr>
              <a:t>client/supervisor</a:t>
            </a:r>
            <a:r>
              <a:rPr b="0" i="0" lang="en-US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 check-ins, daily team meetings, and review before merging on Git</a:t>
            </a:r>
            <a:r>
              <a:rPr lang="en-US">
                <a:solidFill>
                  <a:srgbClr val="1F2A30"/>
                </a:solidFill>
              </a:rPr>
              <a:t>Hub</a:t>
            </a:r>
            <a:r>
              <a:rPr b="0" i="0" lang="en-US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685800" y="2606050"/>
            <a:ext cx="3154800" cy="14196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685850" y="2606050"/>
            <a:ext cx="73200" cy="14196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 txBox="1"/>
          <p:nvPr/>
        </p:nvSpPr>
        <p:spPr>
          <a:xfrm>
            <a:off x="914400" y="2770632"/>
            <a:ext cx="2788921" cy="210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 sz="1800"/>
          </a:p>
        </p:txBody>
      </p:sp>
      <p:sp>
        <p:nvSpPr>
          <p:cNvPr id="506" name="Google Shape;506;p15"/>
          <p:cNvSpPr txBox="1"/>
          <p:nvPr/>
        </p:nvSpPr>
        <p:spPr>
          <a:xfrm>
            <a:off x="914400" y="3136392"/>
            <a:ext cx="27888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935"/>
              <a:buFont typeface="Arial"/>
              <a:buNone/>
            </a:pPr>
            <a:r>
              <a:rPr lang="en-US" sz="1220">
                <a:solidFill>
                  <a:srgbClr val="34454D"/>
                </a:solidFill>
              </a:rPr>
              <a:t>Organized and led all team </a:t>
            </a:r>
            <a:r>
              <a:rPr lang="en-US" sz="1220">
                <a:solidFill>
                  <a:srgbClr val="34454D"/>
                </a:solidFill>
              </a:rPr>
              <a:t>meetings, documents, submissions, high-level project organization.</a:t>
            </a:r>
            <a:endParaRPr sz="1220"/>
          </a:p>
        </p:txBody>
      </p:sp>
      <p:sp>
        <p:nvSpPr>
          <p:cNvPr id="507" name="Google Shape;507;p15"/>
          <p:cNvSpPr/>
          <p:nvPr/>
        </p:nvSpPr>
        <p:spPr>
          <a:xfrm>
            <a:off x="4389125" y="2606050"/>
            <a:ext cx="3154800" cy="14196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4389175" y="2606050"/>
            <a:ext cx="73200" cy="14196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 txBox="1"/>
          <p:nvPr/>
        </p:nvSpPr>
        <p:spPr>
          <a:xfrm>
            <a:off x="4617720" y="2770632"/>
            <a:ext cx="2788921" cy="210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Jonah</a:t>
            </a:r>
            <a:endParaRPr sz="1800"/>
          </a:p>
        </p:txBody>
      </p:sp>
      <p:sp>
        <p:nvSpPr>
          <p:cNvPr id="510" name="Google Shape;510;p15"/>
          <p:cNvSpPr txBox="1"/>
          <p:nvPr/>
        </p:nvSpPr>
        <p:spPr>
          <a:xfrm>
            <a:off x="4617720" y="3136392"/>
            <a:ext cx="27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100"/>
              <a:buFont typeface="Arial"/>
              <a:buNone/>
            </a:pPr>
            <a:r>
              <a:rPr lang="en-US" sz="1200"/>
              <a:t>Designed question routing system, assisted with translations.</a:t>
            </a:r>
            <a:endParaRPr sz="1200"/>
          </a:p>
        </p:txBody>
      </p:sp>
      <p:sp>
        <p:nvSpPr>
          <p:cNvPr id="511" name="Google Shape;511;p15"/>
          <p:cNvSpPr/>
          <p:nvPr/>
        </p:nvSpPr>
        <p:spPr>
          <a:xfrm>
            <a:off x="8092450" y="2606050"/>
            <a:ext cx="3154800" cy="14196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8092448" y="2606050"/>
            <a:ext cx="73200" cy="1419600"/>
          </a:xfrm>
          <a:prstGeom prst="rect">
            <a:avLst/>
          </a:prstGeom>
          <a:solidFill>
            <a:srgbClr val="B6505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5"/>
          <p:cNvSpPr txBox="1"/>
          <p:nvPr/>
        </p:nvSpPr>
        <p:spPr>
          <a:xfrm>
            <a:off x="8321040" y="2770632"/>
            <a:ext cx="2788921" cy="210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Kyle</a:t>
            </a:r>
            <a:endParaRPr sz="1800"/>
          </a:p>
        </p:txBody>
      </p:sp>
      <p:sp>
        <p:nvSpPr>
          <p:cNvPr id="514" name="Google Shape;514;p15"/>
          <p:cNvSpPr txBox="1"/>
          <p:nvPr/>
        </p:nvSpPr>
        <p:spPr>
          <a:xfrm>
            <a:off x="8321050" y="3136400"/>
            <a:ext cx="2788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4454D"/>
                </a:solidFill>
              </a:rPr>
              <a:t>I</a:t>
            </a:r>
            <a:r>
              <a:rPr lang="en-US" sz="1200">
                <a:solidFill>
                  <a:srgbClr val="34454D"/>
                </a:solidFill>
              </a:rPr>
              <a:t>mplemented all risk scoring logic, assisted with UI/UX and PDF report.</a:t>
            </a:r>
            <a:endParaRPr sz="1200">
              <a:solidFill>
                <a:srgbClr val="34454D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515" name="Google Shape;515;p15"/>
          <p:cNvSpPr/>
          <p:nvPr/>
        </p:nvSpPr>
        <p:spPr>
          <a:xfrm>
            <a:off x="685800" y="4251947"/>
            <a:ext cx="3154800" cy="14196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685801" y="4251947"/>
            <a:ext cx="73200" cy="14196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5"/>
          <p:cNvSpPr txBox="1"/>
          <p:nvPr/>
        </p:nvSpPr>
        <p:spPr>
          <a:xfrm>
            <a:off x="914400" y="4416552"/>
            <a:ext cx="2788921" cy="210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Nick</a:t>
            </a:r>
            <a:endParaRPr sz="1800"/>
          </a:p>
        </p:txBody>
      </p:sp>
      <p:sp>
        <p:nvSpPr>
          <p:cNvPr id="518" name="Google Shape;518;p15"/>
          <p:cNvSpPr txBox="1"/>
          <p:nvPr/>
        </p:nvSpPr>
        <p:spPr>
          <a:xfrm>
            <a:off x="914400" y="4782300"/>
            <a:ext cx="27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100"/>
              <a:buFont typeface="Arial"/>
              <a:buNone/>
            </a:pPr>
            <a:r>
              <a:rPr lang="en-US" sz="1200"/>
              <a:t>Implemented all translation features, assisted with question routing/AI.</a:t>
            </a:r>
            <a:endParaRPr sz="1200"/>
          </a:p>
        </p:txBody>
      </p:sp>
      <p:sp>
        <p:nvSpPr>
          <p:cNvPr id="519" name="Google Shape;519;p15"/>
          <p:cNvSpPr/>
          <p:nvPr/>
        </p:nvSpPr>
        <p:spPr>
          <a:xfrm>
            <a:off x="4389125" y="4251947"/>
            <a:ext cx="3154800" cy="14196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4389125" y="4251947"/>
            <a:ext cx="73200" cy="1419600"/>
          </a:xfrm>
          <a:prstGeom prst="rect">
            <a:avLst/>
          </a:prstGeom>
          <a:solidFill>
            <a:srgbClr val="49A391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5"/>
          <p:cNvSpPr txBox="1"/>
          <p:nvPr/>
        </p:nvSpPr>
        <p:spPr>
          <a:xfrm>
            <a:off x="4617720" y="4416552"/>
            <a:ext cx="2788921" cy="210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3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Abdullah</a:t>
            </a:r>
            <a:endParaRPr sz="1800"/>
          </a:p>
        </p:txBody>
      </p:sp>
      <p:sp>
        <p:nvSpPr>
          <p:cNvPr id="522" name="Google Shape;522;p15"/>
          <p:cNvSpPr txBox="1"/>
          <p:nvPr/>
        </p:nvSpPr>
        <p:spPr>
          <a:xfrm>
            <a:off x="4617725" y="4782300"/>
            <a:ext cx="2926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770"/>
              <a:buFont typeface="Arial"/>
              <a:buNone/>
            </a:pPr>
            <a:r>
              <a:rPr lang="en-US" sz="1200"/>
              <a:t>Designed app UI/UX and created new PDF report.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7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7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530" name="Google Shape;530;p17"/>
          <p:cNvSpPr txBox="1"/>
          <p:nvPr/>
        </p:nvSpPr>
        <p:spPr>
          <a:xfrm>
            <a:off x="594359" y="341630"/>
            <a:ext cx="5029201" cy="139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7E6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97E6C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endParaRPr/>
          </a:p>
        </p:txBody>
      </p:sp>
      <p:sp>
        <p:nvSpPr>
          <p:cNvPr id="531" name="Google Shape;531;p17"/>
          <p:cNvSpPr txBox="1"/>
          <p:nvPr/>
        </p:nvSpPr>
        <p:spPr>
          <a:xfrm>
            <a:off x="594359" y="576072"/>
            <a:ext cx="10789922" cy="411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Conclusion and next steps</a:t>
            </a:r>
            <a:endParaRPr/>
          </a:p>
        </p:txBody>
      </p:sp>
      <p:sp>
        <p:nvSpPr>
          <p:cNvPr id="532" name="Google Shape;532;p17"/>
          <p:cNvSpPr txBox="1"/>
          <p:nvPr/>
        </p:nvSpPr>
        <p:spPr>
          <a:xfrm>
            <a:off x="731519" y="1143000"/>
            <a:ext cx="1078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670"/>
              <a:buFont typeface="Arial"/>
              <a:buNone/>
            </a:pPr>
            <a:r>
              <a:rPr b="1" i="0" lang="en-US" sz="16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MSI 360 addresses the original problem by giving workers a clearer way to identify, score, and communicate MSI risks for a specific work task.</a:t>
            </a:r>
            <a:endParaRPr sz="1600"/>
          </a:p>
        </p:txBody>
      </p:sp>
      <p:sp>
        <p:nvSpPr>
          <p:cNvPr id="533" name="Google Shape;533;p17"/>
          <p:cNvSpPr/>
          <p:nvPr/>
        </p:nvSpPr>
        <p:spPr>
          <a:xfrm>
            <a:off x="777250" y="2148851"/>
            <a:ext cx="3154800" cy="21093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777203" y="2148851"/>
            <a:ext cx="73200" cy="21093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 txBox="1"/>
          <p:nvPr/>
        </p:nvSpPr>
        <p:spPr>
          <a:xfrm>
            <a:off x="1005839" y="2313432"/>
            <a:ext cx="2788922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Key outcome</a:t>
            </a:r>
            <a:endParaRPr sz="1800"/>
          </a:p>
        </p:txBody>
      </p:sp>
      <p:sp>
        <p:nvSpPr>
          <p:cNvPr id="536" name="Google Shape;536;p17"/>
          <p:cNvSpPr txBox="1"/>
          <p:nvPr/>
        </p:nvSpPr>
        <p:spPr>
          <a:xfrm>
            <a:off x="1005839" y="2679192"/>
            <a:ext cx="2788922" cy="1280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300">
                <a:solidFill>
                  <a:srgbClr val="34454D"/>
                </a:solidFill>
              </a:rPr>
              <a:t> </a:t>
            </a: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prototype that moves MSI risk assessment from a complicated and long process to</a:t>
            </a:r>
            <a:r>
              <a:rPr lang="en-US" sz="1300">
                <a:solidFill>
                  <a:srgbClr val="34454D"/>
                </a:solidFill>
              </a:rPr>
              <a:t> an easier, digital version with </a:t>
            </a:r>
            <a:r>
              <a:rPr lang="en-US" sz="1300">
                <a:solidFill>
                  <a:srgbClr val="34454D"/>
                </a:solidFill>
              </a:rPr>
              <a:t>language</a:t>
            </a:r>
            <a:r>
              <a:rPr lang="en-US" sz="1300">
                <a:solidFill>
                  <a:srgbClr val="34454D"/>
                </a:solidFill>
              </a:rPr>
              <a:t> support.</a:t>
            </a:r>
            <a:endParaRPr sz="1300"/>
          </a:p>
        </p:txBody>
      </p:sp>
      <p:sp>
        <p:nvSpPr>
          <p:cNvPr id="537" name="Google Shape;537;p17"/>
          <p:cNvSpPr/>
          <p:nvPr/>
        </p:nvSpPr>
        <p:spPr>
          <a:xfrm>
            <a:off x="4526275" y="2148851"/>
            <a:ext cx="3154800" cy="21093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7"/>
          <p:cNvSpPr/>
          <p:nvPr/>
        </p:nvSpPr>
        <p:spPr>
          <a:xfrm>
            <a:off x="4526276" y="2148851"/>
            <a:ext cx="73200" cy="2109300"/>
          </a:xfrm>
          <a:prstGeom prst="rect">
            <a:avLst/>
          </a:prstGeom>
          <a:solidFill>
            <a:srgbClr val="2C5F85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 txBox="1"/>
          <p:nvPr/>
        </p:nvSpPr>
        <p:spPr>
          <a:xfrm>
            <a:off x="4754879" y="2313432"/>
            <a:ext cx="27889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-US" sz="1800">
                <a:solidFill>
                  <a:srgbClr val="1F2A30"/>
                </a:solidFill>
              </a:rPr>
              <a:t>Future improvements</a:t>
            </a:r>
            <a:endParaRPr sz="1800"/>
          </a:p>
        </p:txBody>
      </p:sp>
      <p:sp>
        <p:nvSpPr>
          <p:cNvPr id="540" name="Google Shape;540;p17"/>
          <p:cNvSpPr txBox="1"/>
          <p:nvPr/>
        </p:nvSpPr>
        <p:spPr>
          <a:xfrm>
            <a:off x="4754879" y="2679192"/>
            <a:ext cx="278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M</a:t>
            </a: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ore user testing, accessibility </a:t>
            </a:r>
            <a:r>
              <a:rPr lang="en-US" sz="1300">
                <a:solidFill>
                  <a:srgbClr val="34454D"/>
                </a:solidFill>
              </a:rPr>
              <a:t>features</a:t>
            </a: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300">
                <a:solidFill>
                  <a:srgbClr val="34454D"/>
                </a:solidFill>
              </a:rPr>
              <a:t>even more language support</a:t>
            </a:r>
            <a:r>
              <a:rPr b="0" i="0" lang="en-US" sz="1300" u="none" cap="none" strike="noStrike">
                <a:solidFill>
                  <a:srgbClr val="34454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/>
          </a:p>
        </p:txBody>
      </p:sp>
      <p:sp>
        <p:nvSpPr>
          <p:cNvPr id="541" name="Google Shape;541;p17"/>
          <p:cNvSpPr/>
          <p:nvPr/>
        </p:nvSpPr>
        <p:spPr>
          <a:xfrm>
            <a:off x="8275325" y="2148851"/>
            <a:ext cx="3154800" cy="21093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8275325" y="2148851"/>
            <a:ext cx="73200" cy="210930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 txBox="1"/>
          <p:nvPr/>
        </p:nvSpPr>
        <p:spPr>
          <a:xfrm>
            <a:off x="8503919" y="2313432"/>
            <a:ext cx="2788921" cy="219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Main lesson</a:t>
            </a:r>
            <a:endParaRPr sz="1800"/>
          </a:p>
        </p:txBody>
      </p:sp>
      <p:sp>
        <p:nvSpPr>
          <p:cNvPr id="544" name="Google Shape;544;p17"/>
          <p:cNvSpPr txBox="1"/>
          <p:nvPr/>
        </p:nvSpPr>
        <p:spPr>
          <a:xfrm>
            <a:off x="8503919" y="2679192"/>
            <a:ext cx="278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4454D"/>
              </a:buClr>
              <a:buSzPts val="1400"/>
              <a:buFont typeface="Arial"/>
              <a:buNone/>
            </a:pPr>
            <a:r>
              <a:rPr lang="en-US" sz="1300">
                <a:solidFill>
                  <a:srgbClr val="34454D"/>
                </a:solidFill>
              </a:rPr>
              <a:t>We learned how valuable these </a:t>
            </a:r>
            <a:r>
              <a:rPr lang="en-US" sz="1300">
                <a:solidFill>
                  <a:srgbClr val="34454D"/>
                </a:solidFill>
              </a:rPr>
              <a:t>concise</a:t>
            </a:r>
            <a:r>
              <a:rPr lang="en-US" sz="1300">
                <a:solidFill>
                  <a:srgbClr val="34454D"/>
                </a:solidFill>
              </a:rPr>
              <a:t> reports can be to </a:t>
            </a:r>
            <a:r>
              <a:rPr lang="en-US" sz="1300">
                <a:solidFill>
                  <a:srgbClr val="34454D"/>
                </a:solidFill>
              </a:rPr>
              <a:t>assist</a:t>
            </a:r>
            <a:r>
              <a:rPr lang="en-US" sz="1300">
                <a:solidFill>
                  <a:srgbClr val="34454D"/>
                </a:solidFill>
              </a:rPr>
              <a:t> users with MSI risk conversation.</a:t>
            </a:r>
            <a:endParaRPr sz="1300"/>
          </a:p>
        </p:txBody>
      </p:sp>
      <p:sp>
        <p:nvSpPr>
          <p:cNvPr id="545" name="Google Shape;545;p17"/>
          <p:cNvSpPr/>
          <p:nvPr/>
        </p:nvSpPr>
        <p:spPr>
          <a:xfrm>
            <a:off x="1463039" y="4983479"/>
            <a:ext cx="9235442" cy="621793"/>
          </a:xfrm>
          <a:prstGeom prst="roundRect">
            <a:avLst>
              <a:gd fmla="val 22059" name="adj"/>
            </a:avLst>
          </a:prstGeom>
          <a:solidFill>
            <a:srgbClr val="EAF2F0"/>
          </a:solidFill>
          <a:ln cap="flat" cmpd="sng" w="12700">
            <a:solidFill>
              <a:srgbClr val="D6E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 txBox="1"/>
          <p:nvPr/>
        </p:nvSpPr>
        <p:spPr>
          <a:xfrm>
            <a:off x="1737360" y="5190671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Thank you to WorkSafeBC, Stewart Rogers, Geoff Wright, and Hoda Rashedi for </a:t>
            </a:r>
            <a:r>
              <a:rPr lang="en-US">
                <a:solidFill>
                  <a:srgbClr val="1F2A30"/>
                </a:solidFill>
              </a:rPr>
              <a:t>all your</a:t>
            </a:r>
            <a:r>
              <a:rPr b="0" i="0" lang="en-US" sz="1400" u="none" cap="none" strike="noStrike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 support.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8"/>
          <p:cNvSpPr/>
          <p:nvPr/>
        </p:nvSpPr>
        <p:spPr>
          <a:xfrm>
            <a:off x="-1" y="0"/>
            <a:ext cx="12191697" cy="1097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-1" y="6629400"/>
            <a:ext cx="12191697" cy="228600"/>
          </a:xfrm>
          <a:prstGeom prst="rect">
            <a:avLst/>
          </a:prstGeom>
          <a:solidFill>
            <a:srgbClr val="EAF2F0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8"/>
          <p:cNvSpPr txBox="1"/>
          <p:nvPr/>
        </p:nvSpPr>
        <p:spPr>
          <a:xfrm>
            <a:off x="502919" y="6666483"/>
            <a:ext cx="4114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787F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8787F"/>
                </a:solidFill>
                <a:latin typeface="Arial"/>
                <a:ea typeface="Arial"/>
                <a:cs typeface="Arial"/>
                <a:sym typeface="Arial"/>
              </a:rPr>
              <a:t>MSI360 | WorkSafeBC | Group 12</a:t>
            </a:r>
            <a:endParaRPr/>
          </a:p>
        </p:txBody>
      </p:sp>
      <p:sp>
        <p:nvSpPr>
          <p:cNvPr id="554" name="Google Shape;554;p18"/>
          <p:cNvSpPr txBox="1"/>
          <p:nvPr/>
        </p:nvSpPr>
        <p:spPr>
          <a:xfrm>
            <a:off x="694696" y="3223260"/>
            <a:ext cx="10789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Play"/>
              <a:buNone/>
            </a:pPr>
            <a:r>
              <a:rPr b="1" i="0" lang="en-US" sz="48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Q</a:t>
            </a:r>
            <a:r>
              <a:rPr b="1" lang="en-US" sz="4800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uestions &amp; Answers</a:t>
            </a:r>
            <a:r>
              <a:rPr b="1" i="0" lang="en-US" sz="4800" u="none" cap="none" strike="noStrike">
                <a:solidFill>
                  <a:srgbClr val="1F2A3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